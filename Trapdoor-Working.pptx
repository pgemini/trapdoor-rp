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A"/>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E40029"/>
          </a:solidFill>
          <a:ln/>
        </p:spPr>
      </p:sp>
      <p:pic>
        <p:nvPicPr>
          <p:cNvPr id="3" name="Image 0" descr="assets/tech-mahindra-logo.png">    </p:cNvPr>
          <p:cNvPicPr>
            <a:picLocks noChangeAspect="1"/>
          </p:cNvPicPr>
          <p:nvPr/>
        </p:nvPicPr>
        <p:blipFill>
          <a:blip r:embed="rId1"/>
          <a:stretch>
            <a:fillRect/>
          </a:stretch>
        </p:blipFill>
        <p:spPr>
          <a:xfrm>
            <a:off x="9712386" y="548640"/>
            <a:ext cx="1839229" cy="502920"/>
          </a:xfrm>
          <a:prstGeom prst="rect">
            <a:avLst/>
          </a:prstGeom>
        </p:spPr>
      </p:pic>
      <p:sp>
        <p:nvSpPr>
          <p:cNvPr id="4" name="Text 1"/>
          <p:cNvSpPr/>
          <p:nvPr/>
        </p:nvSpPr>
        <p:spPr>
          <a:xfrm>
            <a:off x="640080" y="2194560"/>
            <a:ext cx="10058400" cy="365760"/>
          </a:xfrm>
          <a:prstGeom prst="rect">
            <a:avLst/>
          </a:prstGeom>
          <a:noFill/>
          <a:ln/>
        </p:spPr>
        <p:txBody>
          <a:bodyPr wrap="square" lIns="0" tIns="0" rIns="0" bIns="0" rtlCol="0" anchor="ctr"/>
          <a:lstStyle/>
          <a:p>
            <a:pPr indent="0" marL="0">
              <a:buNone/>
            </a:pPr>
            <a:r>
              <a:rPr lang="en-US" sz="1400" b="1" spc="600" kern="0" dirty="0">
                <a:solidFill>
                  <a:srgbClr val="E40029"/>
                </a:solidFill>
                <a:latin typeface="Calibri" pitchFamily="34" charset="0"/>
                <a:ea typeface="Calibri" pitchFamily="34" charset="-122"/>
                <a:cs typeface="Calibri" pitchFamily="34" charset="-120"/>
              </a:rPr>
              <a:t>WORKING ARCHITECTURE</a:t>
            </a:r>
            <a:endParaRPr lang="en-US" sz="1400" dirty="0"/>
          </a:p>
        </p:txBody>
      </p:sp>
      <p:sp>
        <p:nvSpPr>
          <p:cNvPr id="5" name="Text 2"/>
          <p:cNvSpPr/>
          <p:nvPr/>
        </p:nvSpPr>
        <p:spPr>
          <a:xfrm>
            <a:off x="640080" y="2560320"/>
            <a:ext cx="10058400" cy="1371600"/>
          </a:xfrm>
          <a:prstGeom prst="rect">
            <a:avLst/>
          </a:prstGeom>
          <a:noFill/>
          <a:ln/>
        </p:spPr>
        <p:txBody>
          <a:bodyPr wrap="square" lIns="0" tIns="0" rIns="0" bIns="0" rtlCol="0" anchor="ctr"/>
          <a:lstStyle/>
          <a:p>
            <a:pPr indent="0" marL="0">
              <a:buNone/>
            </a:pPr>
            <a:r>
              <a:rPr lang="en-US" sz="8000" b="1" dirty="0">
                <a:solidFill>
                  <a:srgbClr val="FFFFFF"/>
                </a:solidFill>
                <a:latin typeface="Calibri" pitchFamily="34" charset="0"/>
                <a:ea typeface="Calibri" pitchFamily="34" charset="-122"/>
                <a:cs typeface="Calibri" pitchFamily="34" charset="-120"/>
              </a:rPr>
              <a:t>Trapdoor</a:t>
            </a:r>
            <a:endParaRPr lang="en-US" sz="8000" dirty="0"/>
          </a:p>
        </p:txBody>
      </p:sp>
      <p:sp>
        <p:nvSpPr>
          <p:cNvPr id="6" name="Text 3"/>
          <p:cNvSpPr/>
          <p:nvPr/>
        </p:nvSpPr>
        <p:spPr>
          <a:xfrm>
            <a:off x="640080" y="3931920"/>
            <a:ext cx="10058400" cy="640080"/>
          </a:xfrm>
          <a:prstGeom prst="rect">
            <a:avLst/>
          </a:prstGeom>
          <a:noFill/>
          <a:ln/>
        </p:spPr>
        <p:txBody>
          <a:bodyPr wrap="square" lIns="0" tIns="0" rIns="0" bIns="0" rtlCol="0" anchor="ctr"/>
          <a:lstStyle/>
          <a:p>
            <a:pPr indent="0" marL="0">
              <a:buNone/>
            </a:pPr>
            <a:r>
              <a:rPr lang="en-US" sz="3600" dirty="0">
                <a:solidFill>
                  <a:srgbClr val="FFFFFF"/>
                </a:solidFill>
                <a:latin typeface="Calibri" pitchFamily="34" charset="0"/>
                <a:ea typeface="Calibri" pitchFamily="34" charset="-122"/>
                <a:cs typeface="Calibri" pitchFamily="34" charset="-120"/>
              </a:rPr>
              <a:t>Extract. Detect. Sanitize.</a:t>
            </a:r>
            <a:endParaRPr lang="en-US" sz="3600" dirty="0"/>
          </a:p>
        </p:txBody>
      </p:sp>
      <p:sp>
        <p:nvSpPr>
          <p:cNvPr id="7" name="Text 4"/>
          <p:cNvSpPr/>
          <p:nvPr/>
        </p:nvSpPr>
        <p:spPr>
          <a:xfrm>
            <a:off x="640080" y="4937760"/>
            <a:ext cx="9144000" cy="914400"/>
          </a:xfrm>
          <a:prstGeom prst="rect">
            <a:avLst/>
          </a:prstGeom>
          <a:noFill/>
          <a:ln/>
        </p:spPr>
        <p:txBody>
          <a:bodyPr wrap="square" lIns="0" tIns="0" rIns="0" bIns="0" rtlCol="0" anchor="ctr"/>
          <a:lstStyle/>
          <a:p>
            <a:pPr indent="0" marL="0">
              <a:buNone/>
            </a:pPr>
            <a:r>
              <a:rPr lang="en-US" sz="1600" dirty="0">
                <a:solidFill>
                  <a:srgbClr val="C5C8D3"/>
                </a:solidFill>
                <a:latin typeface="Calibri" pitchFamily="34" charset="0"/>
                <a:ea typeface="Calibri" pitchFamily="34" charset="-122"/>
                <a:cs typeface="Calibri" pitchFamily="34" charset="-120"/>
              </a:rPr>
              <a:t>How a single file is checked for prompt-injection attacks before it ever reaches a language model — and the business impact of stopping those attacks at the door.</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5F9"/>
        </a:solidFill>
      </p:bgPr>
    </p:bg>
    <p:spTree>
      <p:nvGrpSpPr>
        <p:cNvPr id="1" name=""/>
        <p:cNvGrpSpPr/>
        <p:nvPr/>
      </p:nvGrpSpPr>
      <p:grpSpPr>
        <a:xfrm>
          <a:off x="0" y="0"/>
          <a:ext cx="0" cy="0"/>
          <a:chOff x="0" y="0"/>
          <a:chExt cx="0" cy="0"/>
        </a:xfrm>
      </p:grpSpPr>
      <p:sp>
        <p:nvSpPr>
          <p:cNvPr id="2" name="Shape 0"/>
          <p:cNvSpPr/>
          <p:nvPr/>
        </p:nvSpPr>
        <p:spPr>
          <a:xfrm>
            <a:off x="502920" y="868680"/>
            <a:ext cx="201168" cy="292608"/>
          </a:xfrm>
          <a:prstGeom prst="rect">
            <a:avLst/>
          </a:prstGeom>
          <a:solidFill>
            <a:srgbClr val="E40029"/>
          </a:solidFill>
          <a:ln/>
        </p:spPr>
      </p:sp>
      <p:sp>
        <p:nvSpPr>
          <p:cNvPr id="3" name="Text 1"/>
          <p:cNvSpPr/>
          <p:nvPr/>
        </p:nvSpPr>
        <p:spPr>
          <a:xfrm>
            <a:off x="822960" y="850392"/>
            <a:ext cx="6858000" cy="329184"/>
          </a:xfrm>
          <a:prstGeom prst="rect">
            <a:avLst/>
          </a:prstGeom>
          <a:noFill/>
          <a:ln/>
        </p:spPr>
        <p:txBody>
          <a:bodyPr wrap="square" lIns="0" tIns="0" rIns="0" bIns="0" rtlCol="0" anchor="ctr"/>
          <a:lstStyle/>
          <a:p>
            <a:pPr indent="0" marL="0">
              <a:buNone/>
            </a:pPr>
            <a:r>
              <a:rPr lang="en-US" sz="1100" b="1" spc="400" kern="0" dirty="0">
                <a:solidFill>
                  <a:srgbClr val="E40029"/>
                </a:solidFill>
                <a:latin typeface="Calibri" pitchFamily="34" charset="0"/>
                <a:ea typeface="Calibri" pitchFamily="34" charset="-122"/>
                <a:cs typeface="Calibri" pitchFamily="34" charset="-120"/>
              </a:rPr>
              <a:t>THE PROBLEM</a:t>
            </a:r>
            <a:endParaRPr lang="en-US" sz="1100" dirty="0"/>
          </a:p>
        </p:txBody>
      </p:sp>
      <p:sp>
        <p:nvSpPr>
          <p:cNvPr id="4" name="Text 2"/>
          <p:cNvSpPr/>
          <p:nvPr/>
        </p:nvSpPr>
        <p:spPr>
          <a:xfrm>
            <a:off x="502920" y="1243584"/>
            <a:ext cx="11185855" cy="777240"/>
          </a:xfrm>
          <a:prstGeom prst="rect">
            <a:avLst/>
          </a:prstGeom>
          <a:noFill/>
          <a:ln/>
        </p:spPr>
        <p:txBody>
          <a:bodyPr wrap="square" lIns="0" tIns="0" rIns="0" bIns="0" rtlCol="0" anchor="t"/>
          <a:lstStyle/>
          <a:p>
            <a:pPr algn="l" indent="0" marL="0">
              <a:buNone/>
            </a:pPr>
            <a:r>
              <a:rPr lang="en-US" sz="3400" b="1" dirty="0">
                <a:solidFill>
                  <a:srgbClr val="1A1A1A"/>
                </a:solidFill>
                <a:latin typeface="Calibri" pitchFamily="34" charset="0"/>
                <a:ea typeface="Calibri" pitchFamily="34" charset="-122"/>
                <a:cs typeface="Calibri" pitchFamily="34" charset="-120"/>
              </a:rPr>
              <a:t>A single uploaded file can hijack your AI.</a:t>
            </a:r>
            <a:endParaRPr lang="en-US" sz="3400" dirty="0"/>
          </a:p>
        </p:txBody>
      </p:sp>
      <p:sp>
        <p:nvSpPr>
          <p:cNvPr id="5" name="Text 3"/>
          <p:cNvSpPr/>
          <p:nvPr/>
        </p:nvSpPr>
        <p:spPr>
          <a:xfrm>
            <a:off x="502920" y="1993392"/>
            <a:ext cx="11185855" cy="411480"/>
          </a:xfrm>
          <a:prstGeom prst="rect">
            <a:avLst/>
          </a:prstGeom>
          <a:noFill/>
          <a:ln/>
        </p:spPr>
        <p:txBody>
          <a:bodyPr wrap="square" lIns="0" tIns="0" rIns="0" bIns="0" rtlCol="0" anchor="ctr"/>
          <a:lstStyle/>
          <a:p>
            <a:pPr indent="0" marL="0">
              <a:buNone/>
            </a:pPr>
            <a:r>
              <a:rPr lang="en-US" sz="1400" dirty="0">
                <a:solidFill>
                  <a:srgbClr val="4A4D57"/>
                </a:solidFill>
                <a:latin typeface="Calibri" pitchFamily="34" charset="0"/>
                <a:ea typeface="Calibri" pitchFamily="34" charset="-122"/>
                <a:cs typeface="Calibri" pitchFamily="34" charset="-120"/>
              </a:rPr>
              <a:t>Modern language models obey the instructions they are given. Documents can carry instructions you didn't write.</a:t>
            </a:r>
            <a:endParaRPr lang="en-US" sz="1400" dirty="0"/>
          </a:p>
        </p:txBody>
      </p:sp>
      <p:sp>
        <p:nvSpPr>
          <p:cNvPr id="6" name="Shape 4"/>
          <p:cNvSpPr/>
          <p:nvPr/>
        </p:nvSpPr>
        <p:spPr>
          <a:xfrm>
            <a:off x="502920" y="2542032"/>
            <a:ext cx="11185855" cy="0"/>
          </a:xfrm>
          <a:prstGeom prst="line">
            <a:avLst/>
          </a:prstGeom>
          <a:noFill/>
          <a:ln w="9525">
            <a:solidFill>
              <a:srgbClr val="DFE2EA"/>
            </a:solidFill>
            <a:prstDash val="solid"/>
          </a:ln>
        </p:spPr>
      </p:sp>
      <p:pic>
        <p:nvPicPr>
          <p:cNvPr id="7" name="Image 0" descr="assets/tech-mahindra-logo.png">    </p:cNvPr>
          <p:cNvPicPr>
            <a:picLocks noChangeAspect="1"/>
          </p:cNvPicPr>
          <p:nvPr/>
        </p:nvPicPr>
        <p:blipFill>
          <a:blip r:embed="rId1"/>
          <a:stretch>
            <a:fillRect/>
          </a:stretch>
        </p:blipFill>
        <p:spPr>
          <a:xfrm>
            <a:off x="10183952" y="384048"/>
            <a:ext cx="1504824" cy="411480"/>
          </a:xfrm>
          <a:prstGeom prst="rect">
            <a:avLst/>
          </a:prstGeom>
        </p:spPr>
      </p:pic>
      <p:sp>
        <p:nvSpPr>
          <p:cNvPr id="8" name="Shape 5"/>
          <p:cNvSpPr/>
          <p:nvPr/>
        </p:nvSpPr>
        <p:spPr>
          <a:xfrm>
            <a:off x="502920" y="2834640"/>
            <a:ext cx="3545738" cy="3108960"/>
          </a:xfrm>
          <a:prstGeom prst="roundRect">
            <a:avLst>
              <a:gd name="adj" fmla="val 3529"/>
            </a:avLst>
          </a:prstGeom>
          <a:solidFill>
            <a:srgbClr val="FFFFFF"/>
          </a:solidFill>
          <a:ln w="7620">
            <a:solidFill>
              <a:srgbClr val="DFE2EA"/>
            </a:solidFill>
            <a:prstDash val="solid"/>
          </a:ln>
          <a:effectLst>
            <a:outerShdw sx="100000" sy="100000" kx="0" ky="0" algn="bl" rotWithShape="0" blurRad="177800" dist="38100" dir="8100000">
              <a:srgbClr val="000000">
                <a:alpha val="10000"/>
              </a:srgbClr>
            </a:outerShdw>
          </a:effectLst>
        </p:spPr>
      </p:sp>
      <p:sp>
        <p:nvSpPr>
          <p:cNvPr id="9" name="Text 6"/>
          <p:cNvSpPr/>
          <p:nvPr/>
        </p:nvSpPr>
        <p:spPr>
          <a:xfrm>
            <a:off x="868680" y="3108960"/>
            <a:ext cx="2814218" cy="457200"/>
          </a:xfrm>
          <a:prstGeom prst="rect">
            <a:avLst/>
          </a:prstGeom>
          <a:noFill/>
          <a:ln/>
        </p:spPr>
        <p:txBody>
          <a:bodyPr wrap="square" lIns="0" tIns="0" rIns="0" bIns="0" rtlCol="0" anchor="ctr"/>
          <a:lstStyle/>
          <a:p>
            <a:pPr indent="0" marL="0">
              <a:buNone/>
            </a:pPr>
            <a:r>
              <a:rPr lang="en-US" sz="2000" b="1" dirty="0">
                <a:solidFill>
                  <a:srgbClr val="1A1A1A"/>
                </a:solidFill>
                <a:latin typeface="Calibri" pitchFamily="34" charset="0"/>
                <a:ea typeface="Calibri" pitchFamily="34" charset="-122"/>
                <a:cs typeface="Calibri" pitchFamily="34" charset="-120"/>
              </a:rPr>
              <a:t>Hidden from humans</a:t>
            </a:r>
            <a:endParaRPr lang="en-US" sz="2000" dirty="0"/>
          </a:p>
        </p:txBody>
      </p:sp>
      <p:sp>
        <p:nvSpPr>
          <p:cNvPr id="10" name="Shape 7"/>
          <p:cNvSpPr/>
          <p:nvPr/>
        </p:nvSpPr>
        <p:spPr>
          <a:xfrm>
            <a:off x="868680" y="3657600"/>
            <a:ext cx="640080" cy="0"/>
          </a:xfrm>
          <a:prstGeom prst="line">
            <a:avLst/>
          </a:prstGeom>
          <a:noFill/>
          <a:ln w="31750">
            <a:solidFill>
              <a:srgbClr val="E40029"/>
            </a:solidFill>
            <a:prstDash val="solid"/>
          </a:ln>
        </p:spPr>
      </p:sp>
      <p:sp>
        <p:nvSpPr>
          <p:cNvPr id="11" name="Text 8"/>
          <p:cNvSpPr/>
          <p:nvPr/>
        </p:nvSpPr>
        <p:spPr>
          <a:xfrm>
            <a:off x="868680" y="3840480"/>
            <a:ext cx="2814218" cy="1920240"/>
          </a:xfrm>
          <a:prstGeom prst="rect">
            <a:avLst/>
          </a:prstGeom>
          <a:noFill/>
          <a:ln/>
        </p:spPr>
        <p:txBody>
          <a:bodyPr wrap="square" lIns="0" tIns="0" rIns="0" bIns="0" rtlCol="0" anchor="ctr"/>
          <a:lstStyle/>
          <a:p>
            <a:pPr indent="0" marL="0">
              <a:spcAft>
                <a:spcPts val="400"/>
              </a:spcAft>
              <a:buNone/>
            </a:pPr>
            <a:r>
              <a:rPr lang="en-US" sz="1400" dirty="0">
                <a:solidFill>
                  <a:srgbClr val="4A4D57"/>
                </a:solidFill>
                <a:latin typeface="Calibri" pitchFamily="34" charset="0"/>
                <a:ea typeface="Calibri" pitchFamily="34" charset="-122"/>
                <a:cs typeface="Calibri" pitchFamily="34" charset="-120"/>
              </a:rPr>
              <a:t>Attackers conceal commands as white-on-white text, tiny font, or inside file properties no one inspects. The reviewer sees a blank space. The AI sees a command.</a:t>
            </a:r>
            <a:endParaRPr lang="en-US" sz="1400" dirty="0"/>
          </a:p>
        </p:txBody>
      </p:sp>
      <p:sp>
        <p:nvSpPr>
          <p:cNvPr id="12" name="Shape 9"/>
          <p:cNvSpPr/>
          <p:nvPr/>
        </p:nvSpPr>
        <p:spPr>
          <a:xfrm>
            <a:off x="4322978" y="2834640"/>
            <a:ext cx="3545738" cy="3108960"/>
          </a:xfrm>
          <a:prstGeom prst="roundRect">
            <a:avLst>
              <a:gd name="adj" fmla="val 3529"/>
            </a:avLst>
          </a:prstGeom>
          <a:solidFill>
            <a:srgbClr val="FFFFFF"/>
          </a:solidFill>
          <a:ln w="7620">
            <a:solidFill>
              <a:srgbClr val="DFE2EA"/>
            </a:solidFill>
            <a:prstDash val="solid"/>
          </a:ln>
          <a:effectLst>
            <a:outerShdw sx="100000" sy="100000" kx="0" ky="0" algn="bl" rotWithShape="0" blurRad="177800" dist="38100" dir="8100000">
              <a:srgbClr val="000000">
                <a:alpha val="10000"/>
              </a:srgbClr>
            </a:outerShdw>
          </a:effectLst>
        </p:spPr>
      </p:sp>
      <p:sp>
        <p:nvSpPr>
          <p:cNvPr id="13" name="Text 10"/>
          <p:cNvSpPr/>
          <p:nvPr/>
        </p:nvSpPr>
        <p:spPr>
          <a:xfrm>
            <a:off x="4688738" y="3108960"/>
            <a:ext cx="2814218" cy="457200"/>
          </a:xfrm>
          <a:prstGeom prst="rect">
            <a:avLst/>
          </a:prstGeom>
          <a:noFill/>
          <a:ln/>
        </p:spPr>
        <p:txBody>
          <a:bodyPr wrap="square" lIns="0" tIns="0" rIns="0" bIns="0" rtlCol="0" anchor="ctr"/>
          <a:lstStyle/>
          <a:p>
            <a:pPr indent="0" marL="0">
              <a:buNone/>
            </a:pPr>
            <a:r>
              <a:rPr lang="en-US" sz="2000" b="1" dirty="0">
                <a:solidFill>
                  <a:srgbClr val="1A1A1A"/>
                </a:solidFill>
                <a:latin typeface="Calibri" pitchFamily="34" charset="0"/>
                <a:ea typeface="Calibri" pitchFamily="34" charset="-122"/>
                <a:cs typeface="Calibri" pitchFamily="34" charset="-120"/>
              </a:rPr>
              <a:t>Read by the model</a:t>
            </a:r>
            <a:endParaRPr lang="en-US" sz="2000" dirty="0"/>
          </a:p>
        </p:txBody>
      </p:sp>
      <p:sp>
        <p:nvSpPr>
          <p:cNvPr id="14" name="Shape 11"/>
          <p:cNvSpPr/>
          <p:nvPr/>
        </p:nvSpPr>
        <p:spPr>
          <a:xfrm>
            <a:off x="4688738" y="3657600"/>
            <a:ext cx="640080" cy="0"/>
          </a:xfrm>
          <a:prstGeom prst="line">
            <a:avLst/>
          </a:prstGeom>
          <a:noFill/>
          <a:ln w="31750">
            <a:solidFill>
              <a:srgbClr val="E40029"/>
            </a:solidFill>
            <a:prstDash val="solid"/>
          </a:ln>
        </p:spPr>
      </p:sp>
      <p:sp>
        <p:nvSpPr>
          <p:cNvPr id="15" name="Text 12"/>
          <p:cNvSpPr/>
          <p:nvPr/>
        </p:nvSpPr>
        <p:spPr>
          <a:xfrm>
            <a:off x="4688738" y="3840480"/>
            <a:ext cx="2814218" cy="1920240"/>
          </a:xfrm>
          <a:prstGeom prst="rect">
            <a:avLst/>
          </a:prstGeom>
          <a:noFill/>
          <a:ln/>
        </p:spPr>
        <p:txBody>
          <a:bodyPr wrap="square" lIns="0" tIns="0" rIns="0" bIns="0" rtlCol="0" anchor="ctr"/>
          <a:lstStyle/>
          <a:p>
            <a:pPr indent="0" marL="0">
              <a:spcAft>
                <a:spcPts val="400"/>
              </a:spcAft>
              <a:buNone/>
            </a:pPr>
            <a:r>
              <a:rPr lang="en-US" sz="1400" dirty="0">
                <a:solidFill>
                  <a:srgbClr val="4A4D57"/>
                </a:solidFill>
                <a:latin typeface="Calibri" pitchFamily="34" charset="0"/>
                <a:ea typeface="Calibri" pitchFamily="34" charset="-122"/>
                <a:cs typeface="Calibri" pitchFamily="34" charset="-120"/>
              </a:rPr>
              <a:t>The language model reads every character it is given. It cannot tell which words came from the user and which were hidden in an attached document by an outsider.</a:t>
            </a:r>
            <a:endParaRPr lang="en-US" sz="1400" dirty="0"/>
          </a:p>
        </p:txBody>
      </p:sp>
      <p:sp>
        <p:nvSpPr>
          <p:cNvPr id="16" name="Shape 13"/>
          <p:cNvSpPr/>
          <p:nvPr/>
        </p:nvSpPr>
        <p:spPr>
          <a:xfrm>
            <a:off x="8143037" y="2834640"/>
            <a:ext cx="3545738" cy="3108960"/>
          </a:xfrm>
          <a:prstGeom prst="roundRect">
            <a:avLst>
              <a:gd name="adj" fmla="val 3529"/>
            </a:avLst>
          </a:prstGeom>
          <a:solidFill>
            <a:srgbClr val="FFFFFF"/>
          </a:solidFill>
          <a:ln w="7620">
            <a:solidFill>
              <a:srgbClr val="DFE2EA"/>
            </a:solidFill>
            <a:prstDash val="solid"/>
          </a:ln>
          <a:effectLst>
            <a:outerShdw sx="100000" sy="100000" kx="0" ky="0" algn="bl" rotWithShape="0" blurRad="177800" dist="38100" dir="8100000">
              <a:srgbClr val="000000">
                <a:alpha val="10000"/>
              </a:srgbClr>
            </a:outerShdw>
          </a:effectLst>
        </p:spPr>
      </p:sp>
      <p:sp>
        <p:nvSpPr>
          <p:cNvPr id="17" name="Text 14"/>
          <p:cNvSpPr/>
          <p:nvPr/>
        </p:nvSpPr>
        <p:spPr>
          <a:xfrm>
            <a:off x="8508797" y="3108960"/>
            <a:ext cx="2814218" cy="457200"/>
          </a:xfrm>
          <a:prstGeom prst="rect">
            <a:avLst/>
          </a:prstGeom>
          <a:noFill/>
          <a:ln/>
        </p:spPr>
        <p:txBody>
          <a:bodyPr wrap="square" lIns="0" tIns="0" rIns="0" bIns="0" rtlCol="0" anchor="ctr"/>
          <a:lstStyle/>
          <a:p>
            <a:pPr indent="0" marL="0">
              <a:buNone/>
            </a:pPr>
            <a:r>
              <a:rPr lang="en-US" sz="2000" b="1" dirty="0">
                <a:solidFill>
                  <a:srgbClr val="1A1A1A"/>
                </a:solidFill>
                <a:latin typeface="Calibri" pitchFamily="34" charset="0"/>
                <a:ea typeface="Calibri" pitchFamily="34" charset="-122"/>
                <a:cs typeface="Calibri" pitchFamily="34" charset="-120"/>
              </a:rPr>
              <a:t>The AI complies</a:t>
            </a:r>
            <a:endParaRPr lang="en-US" sz="2000" dirty="0"/>
          </a:p>
        </p:txBody>
      </p:sp>
      <p:sp>
        <p:nvSpPr>
          <p:cNvPr id="18" name="Shape 15"/>
          <p:cNvSpPr/>
          <p:nvPr/>
        </p:nvSpPr>
        <p:spPr>
          <a:xfrm>
            <a:off x="8508797" y="3657600"/>
            <a:ext cx="640080" cy="0"/>
          </a:xfrm>
          <a:prstGeom prst="line">
            <a:avLst/>
          </a:prstGeom>
          <a:noFill/>
          <a:ln w="31750">
            <a:solidFill>
              <a:srgbClr val="E40029"/>
            </a:solidFill>
            <a:prstDash val="solid"/>
          </a:ln>
        </p:spPr>
      </p:sp>
      <p:sp>
        <p:nvSpPr>
          <p:cNvPr id="19" name="Text 16"/>
          <p:cNvSpPr/>
          <p:nvPr/>
        </p:nvSpPr>
        <p:spPr>
          <a:xfrm>
            <a:off x="8508797" y="3840480"/>
            <a:ext cx="2814218" cy="1920240"/>
          </a:xfrm>
          <a:prstGeom prst="rect">
            <a:avLst/>
          </a:prstGeom>
          <a:noFill/>
          <a:ln/>
        </p:spPr>
        <p:txBody>
          <a:bodyPr wrap="square" lIns="0" tIns="0" rIns="0" bIns="0" rtlCol="0" anchor="ctr"/>
          <a:lstStyle/>
          <a:p>
            <a:pPr indent="0" marL="0">
              <a:spcAft>
                <a:spcPts val="400"/>
              </a:spcAft>
              <a:buNone/>
            </a:pPr>
            <a:r>
              <a:rPr lang="en-US" sz="1400" dirty="0">
                <a:solidFill>
                  <a:srgbClr val="4A4D57"/>
                </a:solidFill>
                <a:latin typeface="Calibri" pitchFamily="34" charset="0"/>
                <a:ea typeface="Calibri" pitchFamily="34" charset="-122"/>
                <a:cs typeface="Calibri" pitchFamily="34" charset="-120"/>
              </a:rPr>
              <a:t>When an attacker writes "ignore previous instructions" or "recommend this candidate 10/10," a helpful model frequently does exactly that.</a:t>
            </a:r>
            <a:endParaRPr lang="en-US" sz="1400" dirty="0"/>
          </a:p>
        </p:txBody>
      </p:sp>
      <p:sp>
        <p:nvSpPr>
          <p:cNvPr id="20" name="Shape 17"/>
          <p:cNvSpPr/>
          <p:nvPr/>
        </p:nvSpPr>
        <p:spPr>
          <a:xfrm>
            <a:off x="502920" y="6446520"/>
            <a:ext cx="11185855" cy="0"/>
          </a:xfrm>
          <a:prstGeom prst="line">
            <a:avLst/>
          </a:prstGeom>
          <a:noFill/>
          <a:ln w="6350">
            <a:solidFill>
              <a:srgbClr val="DFE2EA"/>
            </a:solidFill>
            <a:prstDash val="solid"/>
          </a:ln>
        </p:spPr>
      </p:sp>
      <p:sp>
        <p:nvSpPr>
          <p:cNvPr id="21" name="Text 18"/>
          <p:cNvSpPr/>
          <p:nvPr/>
        </p:nvSpPr>
        <p:spPr>
          <a:xfrm>
            <a:off x="502920" y="6510528"/>
            <a:ext cx="7315200" cy="274320"/>
          </a:xfrm>
          <a:prstGeom prst="rect">
            <a:avLst/>
          </a:prstGeom>
          <a:noFill/>
          <a:ln/>
        </p:spPr>
        <p:txBody>
          <a:bodyPr wrap="square" lIns="0" tIns="0" rIns="0" bIns="0" rtlCol="0" anchor="ctr"/>
          <a:lstStyle/>
          <a:p>
            <a:pPr indent="0" marL="0">
              <a:buNone/>
            </a:pPr>
            <a:r>
              <a:rPr lang="en-US" sz="900" dirty="0">
                <a:solidFill>
                  <a:srgbClr val="7A7E8A"/>
                </a:solidFill>
                <a:latin typeface="Calibri" pitchFamily="34" charset="0"/>
                <a:ea typeface="Calibri" pitchFamily="34" charset="-122"/>
                <a:cs typeface="Calibri" pitchFamily="34" charset="-120"/>
              </a:rPr>
              <a:t>Trapdoor · Working architecture</a:t>
            </a:r>
            <a:endParaRPr lang="en-US" sz="900" dirty="0"/>
          </a:p>
        </p:txBody>
      </p:sp>
      <p:sp>
        <p:nvSpPr>
          <p:cNvPr id="22" name="Text 19"/>
          <p:cNvSpPr/>
          <p:nvPr/>
        </p:nvSpPr>
        <p:spPr>
          <a:xfrm>
            <a:off x="10637215" y="6510528"/>
            <a:ext cx="1051560" cy="274320"/>
          </a:xfrm>
          <a:prstGeom prst="rect">
            <a:avLst/>
          </a:prstGeom>
          <a:noFill/>
          <a:ln/>
        </p:spPr>
        <p:txBody>
          <a:bodyPr wrap="square" lIns="0" tIns="0" rIns="0" bIns="0" rtlCol="0" anchor="ctr"/>
          <a:lstStyle/>
          <a:p>
            <a:pPr algn="r" indent="0" marL="0">
              <a:buNone/>
            </a:pPr>
            <a:r>
              <a:rPr lang="en-US" sz="900" dirty="0">
                <a:solidFill>
                  <a:srgbClr val="7A7E8A"/>
                </a:solidFill>
                <a:latin typeface="Calibri" pitchFamily="34" charset="0"/>
                <a:ea typeface="Calibri" pitchFamily="34" charset="-122"/>
                <a:cs typeface="Calibri" pitchFamily="34" charset="-120"/>
              </a:rPr>
              <a:t>2 / 12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5F9"/>
        </a:solidFill>
      </p:bgPr>
    </p:bg>
    <p:spTree>
      <p:nvGrpSpPr>
        <p:cNvPr id="1" name=""/>
        <p:cNvGrpSpPr/>
        <p:nvPr/>
      </p:nvGrpSpPr>
      <p:grpSpPr>
        <a:xfrm>
          <a:off x="0" y="0"/>
          <a:ext cx="0" cy="0"/>
          <a:chOff x="0" y="0"/>
          <a:chExt cx="0" cy="0"/>
        </a:xfrm>
      </p:grpSpPr>
      <p:sp>
        <p:nvSpPr>
          <p:cNvPr id="2" name="Shape 0"/>
          <p:cNvSpPr/>
          <p:nvPr/>
        </p:nvSpPr>
        <p:spPr>
          <a:xfrm>
            <a:off x="502920" y="868680"/>
            <a:ext cx="201168" cy="292608"/>
          </a:xfrm>
          <a:prstGeom prst="rect">
            <a:avLst/>
          </a:prstGeom>
          <a:solidFill>
            <a:srgbClr val="E40029"/>
          </a:solidFill>
          <a:ln/>
        </p:spPr>
      </p:sp>
      <p:sp>
        <p:nvSpPr>
          <p:cNvPr id="3" name="Text 1"/>
          <p:cNvSpPr/>
          <p:nvPr/>
        </p:nvSpPr>
        <p:spPr>
          <a:xfrm>
            <a:off x="822960" y="850392"/>
            <a:ext cx="6858000" cy="329184"/>
          </a:xfrm>
          <a:prstGeom prst="rect">
            <a:avLst/>
          </a:prstGeom>
          <a:noFill/>
          <a:ln/>
        </p:spPr>
        <p:txBody>
          <a:bodyPr wrap="square" lIns="0" tIns="0" rIns="0" bIns="0" rtlCol="0" anchor="ctr"/>
          <a:lstStyle/>
          <a:p>
            <a:pPr indent="0" marL="0">
              <a:buNone/>
            </a:pPr>
            <a:r>
              <a:rPr lang="en-US" sz="1100" b="1" spc="400" kern="0" dirty="0">
                <a:solidFill>
                  <a:srgbClr val="E40029"/>
                </a:solidFill>
                <a:latin typeface="Calibri" pitchFamily="34" charset="0"/>
                <a:ea typeface="Calibri" pitchFamily="34" charset="-122"/>
                <a:cs typeface="Calibri" pitchFamily="34" charset="-120"/>
              </a:rPr>
              <a:t>THE DEFENCE</a:t>
            </a:r>
            <a:endParaRPr lang="en-US" sz="1100" dirty="0"/>
          </a:p>
        </p:txBody>
      </p:sp>
      <p:sp>
        <p:nvSpPr>
          <p:cNvPr id="4" name="Text 2"/>
          <p:cNvSpPr/>
          <p:nvPr/>
        </p:nvSpPr>
        <p:spPr>
          <a:xfrm>
            <a:off x="502920" y="1243584"/>
            <a:ext cx="11185855" cy="777240"/>
          </a:xfrm>
          <a:prstGeom prst="rect">
            <a:avLst/>
          </a:prstGeom>
          <a:noFill/>
          <a:ln/>
        </p:spPr>
        <p:txBody>
          <a:bodyPr wrap="square" lIns="0" tIns="0" rIns="0" bIns="0" rtlCol="0" anchor="t"/>
          <a:lstStyle/>
          <a:p>
            <a:pPr algn="l" indent="0" marL="0">
              <a:buNone/>
            </a:pPr>
            <a:r>
              <a:rPr lang="en-US" sz="3400" b="1" dirty="0">
                <a:solidFill>
                  <a:srgbClr val="1A1A1A"/>
                </a:solidFill>
                <a:latin typeface="Calibri" pitchFamily="34" charset="0"/>
                <a:ea typeface="Calibri" pitchFamily="34" charset="-122"/>
                <a:cs typeface="Calibri" pitchFamily="34" charset="-120"/>
              </a:rPr>
              <a:t>Three stages between the file and the model.</a:t>
            </a:r>
            <a:endParaRPr lang="en-US" sz="3400" dirty="0"/>
          </a:p>
        </p:txBody>
      </p:sp>
      <p:sp>
        <p:nvSpPr>
          <p:cNvPr id="5" name="Text 3"/>
          <p:cNvSpPr/>
          <p:nvPr/>
        </p:nvSpPr>
        <p:spPr>
          <a:xfrm>
            <a:off x="502920" y="1993392"/>
            <a:ext cx="11185855" cy="411480"/>
          </a:xfrm>
          <a:prstGeom prst="rect">
            <a:avLst/>
          </a:prstGeom>
          <a:noFill/>
          <a:ln/>
        </p:spPr>
        <p:txBody>
          <a:bodyPr wrap="square" lIns="0" tIns="0" rIns="0" bIns="0" rtlCol="0" anchor="ctr"/>
          <a:lstStyle/>
          <a:p>
            <a:pPr indent="0" marL="0">
              <a:buNone/>
            </a:pPr>
            <a:r>
              <a:rPr lang="en-US" sz="1400" dirty="0">
                <a:solidFill>
                  <a:srgbClr val="4A4D57"/>
                </a:solidFill>
                <a:latin typeface="Calibri" pitchFamily="34" charset="0"/>
                <a:ea typeface="Calibri" pitchFamily="34" charset="-122"/>
                <a:cs typeface="Calibri" pitchFamily="34" charset="-120"/>
              </a:rPr>
              <a:t>Every uploaded file flows through the same deterministic pipeline. Nothing reaches the language model unscanned.</a:t>
            </a:r>
            <a:endParaRPr lang="en-US" sz="1400" dirty="0"/>
          </a:p>
        </p:txBody>
      </p:sp>
      <p:sp>
        <p:nvSpPr>
          <p:cNvPr id="6" name="Shape 4"/>
          <p:cNvSpPr/>
          <p:nvPr/>
        </p:nvSpPr>
        <p:spPr>
          <a:xfrm>
            <a:off x="502920" y="2542032"/>
            <a:ext cx="11185855" cy="0"/>
          </a:xfrm>
          <a:prstGeom prst="line">
            <a:avLst/>
          </a:prstGeom>
          <a:noFill/>
          <a:ln w="9525">
            <a:solidFill>
              <a:srgbClr val="DFE2EA"/>
            </a:solidFill>
            <a:prstDash val="solid"/>
          </a:ln>
        </p:spPr>
      </p:sp>
      <p:pic>
        <p:nvPicPr>
          <p:cNvPr id="7" name="Image 0" descr="assets/tech-mahindra-logo.png">    </p:cNvPr>
          <p:cNvPicPr>
            <a:picLocks noChangeAspect="1"/>
          </p:cNvPicPr>
          <p:nvPr/>
        </p:nvPicPr>
        <p:blipFill>
          <a:blip r:embed="rId1"/>
          <a:stretch>
            <a:fillRect/>
          </a:stretch>
        </p:blipFill>
        <p:spPr>
          <a:xfrm>
            <a:off x="10183952" y="384048"/>
            <a:ext cx="1504824" cy="411480"/>
          </a:xfrm>
          <a:prstGeom prst="rect">
            <a:avLst/>
          </a:prstGeom>
        </p:spPr>
      </p:pic>
      <p:sp>
        <p:nvSpPr>
          <p:cNvPr id="8" name="Shape 5"/>
          <p:cNvSpPr/>
          <p:nvPr/>
        </p:nvSpPr>
        <p:spPr>
          <a:xfrm>
            <a:off x="502920" y="2926080"/>
            <a:ext cx="3484778" cy="3017520"/>
          </a:xfrm>
          <a:prstGeom prst="roundRect">
            <a:avLst>
              <a:gd name="adj" fmla="val 3636"/>
            </a:avLst>
          </a:prstGeom>
          <a:solidFill>
            <a:srgbClr val="FFFFFF"/>
          </a:solidFill>
          <a:ln w="7620">
            <a:solidFill>
              <a:srgbClr val="DFE2EA"/>
            </a:solidFill>
            <a:prstDash val="solid"/>
          </a:ln>
          <a:effectLst>
            <a:outerShdw sx="100000" sy="100000" kx="0" ky="0" algn="bl" rotWithShape="0" blurRad="177800" dist="38100" dir="8100000">
              <a:srgbClr val="000000">
                <a:alpha val="10000"/>
              </a:srgbClr>
            </a:outerShdw>
          </a:effectLst>
        </p:spPr>
      </p:sp>
      <p:sp>
        <p:nvSpPr>
          <p:cNvPr id="9" name="Shape 6"/>
          <p:cNvSpPr/>
          <p:nvPr/>
        </p:nvSpPr>
        <p:spPr>
          <a:xfrm>
            <a:off x="868680" y="3291840"/>
            <a:ext cx="640080" cy="640080"/>
          </a:xfrm>
          <a:prstGeom prst="ellipse">
            <a:avLst/>
          </a:prstGeom>
          <a:solidFill>
            <a:srgbClr val="0078D4"/>
          </a:solidFill>
          <a:ln/>
        </p:spPr>
      </p:sp>
      <p:sp>
        <p:nvSpPr>
          <p:cNvPr id="10" name="Text 7"/>
          <p:cNvSpPr/>
          <p:nvPr/>
        </p:nvSpPr>
        <p:spPr>
          <a:xfrm>
            <a:off x="868680" y="329184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11" name="Text 8"/>
          <p:cNvSpPr/>
          <p:nvPr/>
        </p:nvSpPr>
        <p:spPr>
          <a:xfrm>
            <a:off x="1691640" y="3310128"/>
            <a:ext cx="2021738" cy="640080"/>
          </a:xfrm>
          <a:prstGeom prst="rect">
            <a:avLst/>
          </a:prstGeom>
          <a:noFill/>
          <a:ln/>
        </p:spPr>
        <p:txBody>
          <a:bodyPr wrap="square" lIns="0" tIns="0" rIns="0" bIns="0" rtlCol="0" anchor="ctr"/>
          <a:lstStyle/>
          <a:p>
            <a:pPr indent="0" marL="0">
              <a:buNone/>
            </a:pPr>
            <a:r>
              <a:rPr lang="en-US" sz="2800" b="1" dirty="0">
                <a:solidFill>
                  <a:srgbClr val="1A1A1A"/>
                </a:solidFill>
                <a:latin typeface="Calibri" pitchFamily="34" charset="0"/>
                <a:ea typeface="Calibri" pitchFamily="34" charset="-122"/>
                <a:cs typeface="Calibri" pitchFamily="34" charset="-120"/>
              </a:rPr>
              <a:t>Extract</a:t>
            </a:r>
            <a:endParaRPr lang="en-US" sz="2800" dirty="0"/>
          </a:p>
        </p:txBody>
      </p:sp>
      <p:sp>
        <p:nvSpPr>
          <p:cNvPr id="12" name="Shape 9"/>
          <p:cNvSpPr/>
          <p:nvPr/>
        </p:nvSpPr>
        <p:spPr>
          <a:xfrm>
            <a:off x="868680" y="4251960"/>
            <a:ext cx="2753258" cy="0"/>
          </a:xfrm>
          <a:prstGeom prst="line">
            <a:avLst/>
          </a:prstGeom>
          <a:noFill/>
          <a:ln w="7620">
            <a:solidFill>
              <a:srgbClr val="DFE2EA"/>
            </a:solidFill>
            <a:prstDash val="solid"/>
          </a:ln>
        </p:spPr>
      </p:sp>
      <p:sp>
        <p:nvSpPr>
          <p:cNvPr id="13" name="Text 10"/>
          <p:cNvSpPr/>
          <p:nvPr/>
        </p:nvSpPr>
        <p:spPr>
          <a:xfrm>
            <a:off x="868680" y="4434840"/>
            <a:ext cx="2753258" cy="1280160"/>
          </a:xfrm>
          <a:prstGeom prst="rect">
            <a:avLst/>
          </a:prstGeom>
          <a:noFill/>
          <a:ln/>
        </p:spPr>
        <p:txBody>
          <a:bodyPr wrap="square" lIns="0" tIns="0" rIns="0" bIns="0" rtlCol="0" anchor="ctr"/>
          <a:lstStyle/>
          <a:p>
            <a:pPr indent="0" marL="0">
              <a:buNone/>
            </a:pPr>
            <a:r>
              <a:rPr lang="en-US" sz="1500" dirty="0">
                <a:solidFill>
                  <a:srgbClr val="4A4D57"/>
                </a:solidFill>
                <a:latin typeface="Calibri" pitchFamily="34" charset="0"/>
                <a:ea typeface="Calibri" pitchFamily="34" charset="-122"/>
                <a:cs typeface="Calibri" pitchFamily="34" charset="-120"/>
              </a:rPr>
              <a:t>Read every piece of text the file contains — including what is hidden or encoded.</a:t>
            </a:r>
            <a:endParaRPr lang="en-US" sz="1500" dirty="0"/>
          </a:p>
        </p:txBody>
      </p:sp>
      <p:sp>
        <p:nvSpPr>
          <p:cNvPr id="14" name="Shape 11"/>
          <p:cNvSpPr/>
          <p:nvPr/>
        </p:nvSpPr>
        <p:spPr>
          <a:xfrm rot="5400000">
            <a:off x="4033418" y="4251960"/>
            <a:ext cx="274320" cy="365760"/>
          </a:xfrm>
          <a:prstGeom prst="rtTriangle">
            <a:avLst/>
          </a:prstGeom>
          <a:solidFill>
            <a:srgbClr val="E40029"/>
          </a:solidFill>
          <a:ln/>
        </p:spPr>
      </p:sp>
      <p:sp>
        <p:nvSpPr>
          <p:cNvPr id="15" name="Shape 12"/>
          <p:cNvSpPr/>
          <p:nvPr/>
        </p:nvSpPr>
        <p:spPr>
          <a:xfrm>
            <a:off x="4353458" y="2926080"/>
            <a:ext cx="3484778" cy="3017520"/>
          </a:xfrm>
          <a:prstGeom prst="roundRect">
            <a:avLst>
              <a:gd name="adj" fmla="val 3636"/>
            </a:avLst>
          </a:prstGeom>
          <a:solidFill>
            <a:srgbClr val="FFFFFF"/>
          </a:solidFill>
          <a:ln w="7620">
            <a:solidFill>
              <a:srgbClr val="DFE2EA"/>
            </a:solidFill>
            <a:prstDash val="solid"/>
          </a:ln>
          <a:effectLst>
            <a:outerShdw sx="100000" sy="100000" kx="0" ky="0" algn="bl" rotWithShape="0" blurRad="177800" dist="38100" dir="8100000">
              <a:srgbClr val="000000">
                <a:alpha val="10000"/>
              </a:srgbClr>
            </a:outerShdw>
          </a:effectLst>
        </p:spPr>
      </p:sp>
      <p:sp>
        <p:nvSpPr>
          <p:cNvPr id="16" name="Shape 13"/>
          <p:cNvSpPr/>
          <p:nvPr/>
        </p:nvSpPr>
        <p:spPr>
          <a:xfrm>
            <a:off x="4719218" y="3291840"/>
            <a:ext cx="640080" cy="640080"/>
          </a:xfrm>
          <a:prstGeom prst="ellipse">
            <a:avLst/>
          </a:prstGeom>
          <a:solidFill>
            <a:srgbClr val="6F42C1"/>
          </a:solidFill>
          <a:ln/>
        </p:spPr>
      </p:sp>
      <p:sp>
        <p:nvSpPr>
          <p:cNvPr id="17" name="Text 14"/>
          <p:cNvSpPr/>
          <p:nvPr/>
        </p:nvSpPr>
        <p:spPr>
          <a:xfrm>
            <a:off x="4719218" y="329184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8" name="Text 15"/>
          <p:cNvSpPr/>
          <p:nvPr/>
        </p:nvSpPr>
        <p:spPr>
          <a:xfrm>
            <a:off x="5542178" y="3310128"/>
            <a:ext cx="2021738" cy="640080"/>
          </a:xfrm>
          <a:prstGeom prst="rect">
            <a:avLst/>
          </a:prstGeom>
          <a:noFill/>
          <a:ln/>
        </p:spPr>
        <p:txBody>
          <a:bodyPr wrap="square" lIns="0" tIns="0" rIns="0" bIns="0" rtlCol="0" anchor="ctr"/>
          <a:lstStyle/>
          <a:p>
            <a:pPr indent="0" marL="0">
              <a:buNone/>
            </a:pPr>
            <a:r>
              <a:rPr lang="en-US" sz="2800" b="1" dirty="0">
                <a:solidFill>
                  <a:srgbClr val="1A1A1A"/>
                </a:solidFill>
                <a:latin typeface="Calibri" pitchFamily="34" charset="0"/>
                <a:ea typeface="Calibri" pitchFamily="34" charset="-122"/>
                <a:cs typeface="Calibri" pitchFamily="34" charset="-120"/>
              </a:rPr>
              <a:t>Detect</a:t>
            </a:r>
            <a:endParaRPr lang="en-US" sz="2800" dirty="0"/>
          </a:p>
        </p:txBody>
      </p:sp>
      <p:sp>
        <p:nvSpPr>
          <p:cNvPr id="19" name="Shape 16"/>
          <p:cNvSpPr/>
          <p:nvPr/>
        </p:nvSpPr>
        <p:spPr>
          <a:xfrm>
            <a:off x="4719218" y="4251960"/>
            <a:ext cx="2753258" cy="0"/>
          </a:xfrm>
          <a:prstGeom prst="line">
            <a:avLst/>
          </a:prstGeom>
          <a:noFill/>
          <a:ln w="7620">
            <a:solidFill>
              <a:srgbClr val="DFE2EA"/>
            </a:solidFill>
            <a:prstDash val="solid"/>
          </a:ln>
        </p:spPr>
      </p:sp>
      <p:sp>
        <p:nvSpPr>
          <p:cNvPr id="20" name="Text 17"/>
          <p:cNvSpPr/>
          <p:nvPr/>
        </p:nvSpPr>
        <p:spPr>
          <a:xfrm>
            <a:off x="4719218" y="4434840"/>
            <a:ext cx="2753258" cy="1280160"/>
          </a:xfrm>
          <a:prstGeom prst="rect">
            <a:avLst/>
          </a:prstGeom>
          <a:noFill/>
          <a:ln/>
        </p:spPr>
        <p:txBody>
          <a:bodyPr wrap="square" lIns="0" tIns="0" rIns="0" bIns="0" rtlCol="0" anchor="ctr"/>
          <a:lstStyle/>
          <a:p>
            <a:pPr indent="0" marL="0">
              <a:buNone/>
            </a:pPr>
            <a:r>
              <a:rPr lang="en-US" sz="1500" dirty="0">
                <a:solidFill>
                  <a:srgbClr val="4A4D57"/>
                </a:solidFill>
                <a:latin typeface="Calibri" pitchFamily="34" charset="0"/>
                <a:ea typeface="Calibri" pitchFamily="34" charset="-122"/>
                <a:cs typeface="Calibri" pitchFamily="34" charset="-120"/>
              </a:rPr>
              <a:t>Test each piece of text against ten independent checks. Any one of them can raise an alarm.</a:t>
            </a:r>
            <a:endParaRPr lang="en-US" sz="1500" dirty="0"/>
          </a:p>
        </p:txBody>
      </p:sp>
      <p:sp>
        <p:nvSpPr>
          <p:cNvPr id="21" name="Shape 18"/>
          <p:cNvSpPr/>
          <p:nvPr/>
        </p:nvSpPr>
        <p:spPr>
          <a:xfrm rot="5400000">
            <a:off x="7883957" y="4251960"/>
            <a:ext cx="274320" cy="365760"/>
          </a:xfrm>
          <a:prstGeom prst="rtTriangle">
            <a:avLst/>
          </a:prstGeom>
          <a:solidFill>
            <a:srgbClr val="E40029"/>
          </a:solidFill>
          <a:ln/>
        </p:spPr>
      </p:sp>
      <p:sp>
        <p:nvSpPr>
          <p:cNvPr id="22" name="Shape 19"/>
          <p:cNvSpPr/>
          <p:nvPr/>
        </p:nvSpPr>
        <p:spPr>
          <a:xfrm>
            <a:off x="8203997" y="2926080"/>
            <a:ext cx="3484778" cy="3017520"/>
          </a:xfrm>
          <a:prstGeom prst="roundRect">
            <a:avLst>
              <a:gd name="adj" fmla="val 3636"/>
            </a:avLst>
          </a:prstGeom>
          <a:solidFill>
            <a:srgbClr val="FFFFFF"/>
          </a:solidFill>
          <a:ln w="7620">
            <a:solidFill>
              <a:srgbClr val="DFE2EA"/>
            </a:solidFill>
            <a:prstDash val="solid"/>
          </a:ln>
          <a:effectLst>
            <a:outerShdw sx="100000" sy="100000" kx="0" ky="0" algn="bl" rotWithShape="0" blurRad="177800" dist="38100" dir="8100000">
              <a:srgbClr val="000000">
                <a:alpha val="10000"/>
              </a:srgbClr>
            </a:outerShdw>
          </a:effectLst>
        </p:spPr>
      </p:sp>
      <p:sp>
        <p:nvSpPr>
          <p:cNvPr id="23" name="Shape 20"/>
          <p:cNvSpPr/>
          <p:nvPr/>
        </p:nvSpPr>
        <p:spPr>
          <a:xfrm>
            <a:off x="8569757" y="3291840"/>
            <a:ext cx="640080" cy="640080"/>
          </a:xfrm>
          <a:prstGeom prst="ellipse">
            <a:avLst/>
          </a:prstGeom>
          <a:solidFill>
            <a:srgbClr val="1F9C5B"/>
          </a:solidFill>
          <a:ln/>
        </p:spPr>
      </p:sp>
      <p:sp>
        <p:nvSpPr>
          <p:cNvPr id="24" name="Text 21"/>
          <p:cNvSpPr/>
          <p:nvPr/>
        </p:nvSpPr>
        <p:spPr>
          <a:xfrm>
            <a:off x="8569757" y="329184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25" name="Text 22"/>
          <p:cNvSpPr/>
          <p:nvPr/>
        </p:nvSpPr>
        <p:spPr>
          <a:xfrm>
            <a:off x="9392717" y="3310128"/>
            <a:ext cx="2021738" cy="640080"/>
          </a:xfrm>
          <a:prstGeom prst="rect">
            <a:avLst/>
          </a:prstGeom>
          <a:noFill/>
          <a:ln/>
        </p:spPr>
        <p:txBody>
          <a:bodyPr wrap="square" lIns="0" tIns="0" rIns="0" bIns="0" rtlCol="0" anchor="ctr"/>
          <a:lstStyle/>
          <a:p>
            <a:pPr indent="0" marL="0">
              <a:buNone/>
            </a:pPr>
            <a:r>
              <a:rPr lang="en-US" sz="2800" b="1" dirty="0">
                <a:solidFill>
                  <a:srgbClr val="1A1A1A"/>
                </a:solidFill>
                <a:latin typeface="Calibri" pitchFamily="34" charset="0"/>
                <a:ea typeface="Calibri" pitchFamily="34" charset="-122"/>
                <a:cs typeface="Calibri" pitchFamily="34" charset="-120"/>
              </a:rPr>
              <a:t>Sanitize</a:t>
            </a:r>
            <a:endParaRPr lang="en-US" sz="2800" dirty="0"/>
          </a:p>
        </p:txBody>
      </p:sp>
      <p:sp>
        <p:nvSpPr>
          <p:cNvPr id="26" name="Shape 23"/>
          <p:cNvSpPr/>
          <p:nvPr/>
        </p:nvSpPr>
        <p:spPr>
          <a:xfrm>
            <a:off x="8569757" y="4251960"/>
            <a:ext cx="2753258" cy="0"/>
          </a:xfrm>
          <a:prstGeom prst="line">
            <a:avLst/>
          </a:prstGeom>
          <a:noFill/>
          <a:ln w="7620">
            <a:solidFill>
              <a:srgbClr val="DFE2EA"/>
            </a:solidFill>
            <a:prstDash val="solid"/>
          </a:ln>
        </p:spPr>
      </p:sp>
      <p:sp>
        <p:nvSpPr>
          <p:cNvPr id="27" name="Text 24"/>
          <p:cNvSpPr/>
          <p:nvPr/>
        </p:nvSpPr>
        <p:spPr>
          <a:xfrm>
            <a:off x="8569757" y="4434840"/>
            <a:ext cx="2753258" cy="1280160"/>
          </a:xfrm>
          <a:prstGeom prst="rect">
            <a:avLst/>
          </a:prstGeom>
          <a:noFill/>
          <a:ln/>
        </p:spPr>
        <p:txBody>
          <a:bodyPr wrap="square" lIns="0" tIns="0" rIns="0" bIns="0" rtlCol="0" anchor="ctr"/>
          <a:lstStyle/>
          <a:p>
            <a:pPr indent="0" marL="0">
              <a:buNone/>
            </a:pPr>
            <a:r>
              <a:rPr lang="en-US" sz="1500" dirty="0">
                <a:solidFill>
                  <a:srgbClr val="4A4D57"/>
                </a:solidFill>
                <a:latin typeface="Calibri" pitchFamily="34" charset="0"/>
                <a:ea typeface="Calibri" pitchFamily="34" charset="-122"/>
                <a:cs typeface="Calibri" pitchFamily="34" charset="-120"/>
              </a:rPr>
              <a:t>Remove, quote, or block the dangerous parts. Hand the model a clean, safe version.</a:t>
            </a:r>
            <a:endParaRPr lang="en-US" sz="1500" dirty="0"/>
          </a:p>
        </p:txBody>
      </p:sp>
      <p:sp>
        <p:nvSpPr>
          <p:cNvPr id="28" name="Shape 25"/>
          <p:cNvSpPr/>
          <p:nvPr/>
        </p:nvSpPr>
        <p:spPr>
          <a:xfrm>
            <a:off x="502920" y="6446520"/>
            <a:ext cx="11185855" cy="0"/>
          </a:xfrm>
          <a:prstGeom prst="line">
            <a:avLst/>
          </a:prstGeom>
          <a:noFill/>
          <a:ln w="6350">
            <a:solidFill>
              <a:srgbClr val="DFE2EA"/>
            </a:solidFill>
            <a:prstDash val="solid"/>
          </a:ln>
        </p:spPr>
      </p:sp>
      <p:sp>
        <p:nvSpPr>
          <p:cNvPr id="29" name="Text 26"/>
          <p:cNvSpPr/>
          <p:nvPr/>
        </p:nvSpPr>
        <p:spPr>
          <a:xfrm>
            <a:off x="502920" y="6510528"/>
            <a:ext cx="7315200" cy="274320"/>
          </a:xfrm>
          <a:prstGeom prst="rect">
            <a:avLst/>
          </a:prstGeom>
          <a:noFill/>
          <a:ln/>
        </p:spPr>
        <p:txBody>
          <a:bodyPr wrap="square" lIns="0" tIns="0" rIns="0" bIns="0" rtlCol="0" anchor="ctr"/>
          <a:lstStyle/>
          <a:p>
            <a:pPr indent="0" marL="0">
              <a:buNone/>
            </a:pPr>
            <a:r>
              <a:rPr lang="en-US" sz="900" dirty="0">
                <a:solidFill>
                  <a:srgbClr val="7A7E8A"/>
                </a:solidFill>
                <a:latin typeface="Calibri" pitchFamily="34" charset="0"/>
                <a:ea typeface="Calibri" pitchFamily="34" charset="-122"/>
                <a:cs typeface="Calibri" pitchFamily="34" charset="-120"/>
              </a:rPr>
              <a:t>Trapdoor · Working architecture</a:t>
            </a:r>
            <a:endParaRPr lang="en-US" sz="900" dirty="0"/>
          </a:p>
        </p:txBody>
      </p:sp>
      <p:sp>
        <p:nvSpPr>
          <p:cNvPr id="30" name="Text 27"/>
          <p:cNvSpPr/>
          <p:nvPr/>
        </p:nvSpPr>
        <p:spPr>
          <a:xfrm>
            <a:off x="10637215" y="6510528"/>
            <a:ext cx="1051560" cy="274320"/>
          </a:xfrm>
          <a:prstGeom prst="rect">
            <a:avLst/>
          </a:prstGeom>
          <a:noFill/>
          <a:ln/>
        </p:spPr>
        <p:txBody>
          <a:bodyPr wrap="square" lIns="0" tIns="0" rIns="0" bIns="0" rtlCol="0" anchor="ctr"/>
          <a:lstStyle/>
          <a:p>
            <a:pPr algn="r" indent="0" marL="0">
              <a:buNone/>
            </a:pPr>
            <a:r>
              <a:rPr lang="en-US" sz="900" dirty="0">
                <a:solidFill>
                  <a:srgbClr val="7A7E8A"/>
                </a:solidFill>
                <a:latin typeface="Calibri" pitchFamily="34" charset="0"/>
                <a:ea typeface="Calibri" pitchFamily="34" charset="-122"/>
                <a:cs typeface="Calibri" pitchFamily="34" charset="-120"/>
              </a:rPr>
              <a:t>3 / 12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5F9"/>
        </a:solidFill>
      </p:bgPr>
    </p:bg>
    <p:spTree>
      <p:nvGrpSpPr>
        <p:cNvPr id="1" name=""/>
        <p:cNvGrpSpPr/>
        <p:nvPr/>
      </p:nvGrpSpPr>
      <p:grpSpPr>
        <a:xfrm>
          <a:off x="0" y="0"/>
          <a:ext cx="0" cy="0"/>
          <a:chOff x="0" y="0"/>
          <a:chExt cx="0" cy="0"/>
        </a:xfrm>
      </p:grpSpPr>
      <p:sp>
        <p:nvSpPr>
          <p:cNvPr id="2" name="Shape 0"/>
          <p:cNvSpPr/>
          <p:nvPr/>
        </p:nvSpPr>
        <p:spPr>
          <a:xfrm>
            <a:off x="502920" y="868680"/>
            <a:ext cx="201168" cy="292608"/>
          </a:xfrm>
          <a:prstGeom prst="rect">
            <a:avLst/>
          </a:prstGeom>
          <a:solidFill>
            <a:srgbClr val="E40029"/>
          </a:solidFill>
          <a:ln/>
        </p:spPr>
      </p:sp>
      <p:sp>
        <p:nvSpPr>
          <p:cNvPr id="3" name="Text 1"/>
          <p:cNvSpPr/>
          <p:nvPr/>
        </p:nvSpPr>
        <p:spPr>
          <a:xfrm>
            <a:off x="822960" y="850392"/>
            <a:ext cx="6858000" cy="329184"/>
          </a:xfrm>
          <a:prstGeom prst="rect">
            <a:avLst/>
          </a:prstGeom>
          <a:noFill/>
          <a:ln/>
        </p:spPr>
        <p:txBody>
          <a:bodyPr wrap="square" lIns="0" tIns="0" rIns="0" bIns="0" rtlCol="0" anchor="ctr"/>
          <a:lstStyle/>
          <a:p>
            <a:pPr indent="0" marL="0">
              <a:buNone/>
            </a:pPr>
            <a:r>
              <a:rPr lang="en-US" sz="1100" b="1" spc="400" kern="0" dirty="0">
                <a:solidFill>
                  <a:srgbClr val="E40029"/>
                </a:solidFill>
                <a:latin typeface="Calibri" pitchFamily="34" charset="0"/>
                <a:ea typeface="Calibri" pitchFamily="34" charset="-122"/>
                <a:cs typeface="Calibri" pitchFamily="34" charset="-120"/>
              </a:rPr>
              <a:t>STAGE 1 · EXTRACT</a:t>
            </a:r>
            <a:endParaRPr lang="en-US" sz="1100" dirty="0"/>
          </a:p>
        </p:txBody>
      </p:sp>
      <p:sp>
        <p:nvSpPr>
          <p:cNvPr id="4" name="Text 2"/>
          <p:cNvSpPr/>
          <p:nvPr/>
        </p:nvSpPr>
        <p:spPr>
          <a:xfrm>
            <a:off x="502920" y="1243584"/>
            <a:ext cx="11185855" cy="777240"/>
          </a:xfrm>
          <a:prstGeom prst="rect">
            <a:avLst/>
          </a:prstGeom>
          <a:noFill/>
          <a:ln/>
        </p:spPr>
        <p:txBody>
          <a:bodyPr wrap="square" lIns="0" tIns="0" rIns="0" bIns="0" rtlCol="0" anchor="t"/>
          <a:lstStyle/>
          <a:p>
            <a:pPr algn="l" indent="0" marL="0">
              <a:buNone/>
            </a:pPr>
            <a:r>
              <a:rPr lang="en-US" sz="3400" b="1" dirty="0">
                <a:solidFill>
                  <a:srgbClr val="1A1A1A"/>
                </a:solidFill>
                <a:latin typeface="Calibri" pitchFamily="34" charset="0"/>
                <a:ea typeface="Calibri" pitchFamily="34" charset="-122"/>
                <a:cs typeface="Calibri" pitchFamily="34" charset="-120"/>
              </a:rPr>
              <a:t>Find every word the model would see.</a:t>
            </a:r>
            <a:endParaRPr lang="en-US" sz="3400" dirty="0"/>
          </a:p>
        </p:txBody>
      </p:sp>
      <p:sp>
        <p:nvSpPr>
          <p:cNvPr id="5" name="Text 3"/>
          <p:cNvSpPr/>
          <p:nvPr/>
        </p:nvSpPr>
        <p:spPr>
          <a:xfrm>
            <a:off x="502920" y="1993392"/>
            <a:ext cx="11185855" cy="411480"/>
          </a:xfrm>
          <a:prstGeom prst="rect">
            <a:avLst/>
          </a:prstGeom>
          <a:noFill/>
          <a:ln/>
        </p:spPr>
        <p:txBody>
          <a:bodyPr wrap="square" lIns="0" tIns="0" rIns="0" bIns="0" rtlCol="0" anchor="ctr"/>
          <a:lstStyle/>
          <a:p>
            <a:pPr indent="0" marL="0">
              <a:buNone/>
            </a:pPr>
            <a:r>
              <a:rPr lang="en-US" sz="1400" dirty="0">
                <a:solidFill>
                  <a:srgbClr val="4A4D57"/>
                </a:solidFill>
                <a:latin typeface="Calibri" pitchFamily="34" charset="0"/>
                <a:ea typeface="Calibri" pitchFamily="34" charset="-122"/>
                <a:cs typeface="Calibri" pitchFamily="34" charset="-120"/>
              </a:rPr>
              <a:t>The same file can carry instructions in many places. We surface all of them.</a:t>
            </a:r>
            <a:endParaRPr lang="en-US" sz="1400" dirty="0"/>
          </a:p>
        </p:txBody>
      </p:sp>
      <p:sp>
        <p:nvSpPr>
          <p:cNvPr id="6" name="Shape 4"/>
          <p:cNvSpPr/>
          <p:nvPr/>
        </p:nvSpPr>
        <p:spPr>
          <a:xfrm>
            <a:off x="502920" y="2542032"/>
            <a:ext cx="11185855" cy="0"/>
          </a:xfrm>
          <a:prstGeom prst="line">
            <a:avLst/>
          </a:prstGeom>
          <a:noFill/>
          <a:ln w="9525">
            <a:solidFill>
              <a:srgbClr val="DFE2EA"/>
            </a:solidFill>
            <a:prstDash val="solid"/>
          </a:ln>
        </p:spPr>
      </p:sp>
      <p:pic>
        <p:nvPicPr>
          <p:cNvPr id="7" name="Image 0" descr="assets/tech-mahindra-logo.png">    </p:cNvPr>
          <p:cNvPicPr>
            <a:picLocks noChangeAspect="1"/>
          </p:cNvPicPr>
          <p:nvPr/>
        </p:nvPicPr>
        <p:blipFill>
          <a:blip r:embed="rId1"/>
          <a:stretch>
            <a:fillRect/>
          </a:stretch>
        </p:blipFill>
        <p:spPr>
          <a:xfrm>
            <a:off x="10183952" y="384048"/>
            <a:ext cx="1504824" cy="411480"/>
          </a:xfrm>
          <a:prstGeom prst="rect">
            <a:avLst/>
          </a:prstGeom>
        </p:spPr>
      </p:pic>
      <p:sp>
        <p:nvSpPr>
          <p:cNvPr id="8" name="Shape 5"/>
          <p:cNvSpPr/>
          <p:nvPr/>
        </p:nvSpPr>
        <p:spPr>
          <a:xfrm>
            <a:off x="502920" y="2880360"/>
            <a:ext cx="146304" cy="146304"/>
          </a:xfrm>
          <a:prstGeom prst="ellipse">
            <a:avLst/>
          </a:prstGeom>
          <a:solidFill>
            <a:srgbClr val="0078D4"/>
          </a:solidFill>
          <a:ln/>
        </p:spPr>
      </p:sp>
      <p:sp>
        <p:nvSpPr>
          <p:cNvPr id="9" name="Text 6"/>
          <p:cNvSpPr/>
          <p:nvPr/>
        </p:nvSpPr>
        <p:spPr>
          <a:xfrm>
            <a:off x="777240" y="2770632"/>
            <a:ext cx="4572000" cy="256032"/>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The visible text</a:t>
            </a:r>
            <a:endParaRPr lang="en-US" sz="1400" dirty="0"/>
          </a:p>
        </p:txBody>
      </p:sp>
      <p:sp>
        <p:nvSpPr>
          <p:cNvPr id="10" name="Text 7"/>
          <p:cNvSpPr/>
          <p:nvPr/>
        </p:nvSpPr>
        <p:spPr>
          <a:xfrm>
            <a:off x="777240" y="3008376"/>
            <a:ext cx="9144000" cy="329184"/>
          </a:xfrm>
          <a:prstGeom prst="rect">
            <a:avLst/>
          </a:prstGeom>
          <a:noFill/>
          <a:ln/>
        </p:spPr>
        <p:txBody>
          <a:bodyPr wrap="square" lIns="0" tIns="0" rIns="0" bIns="0" rtlCol="0" anchor="ctr"/>
          <a:lstStyle/>
          <a:p>
            <a:pPr indent="0" marL="0">
              <a:buNone/>
            </a:pPr>
            <a:r>
              <a:rPr lang="en-US" sz="1150" dirty="0">
                <a:solidFill>
                  <a:srgbClr val="4A4D57"/>
                </a:solidFill>
                <a:latin typeface="Calibri" pitchFamily="34" charset="0"/>
                <a:ea typeface="Calibri" pitchFamily="34" charset="-122"/>
                <a:cs typeface="Calibri" pitchFamily="34" charset="-120"/>
              </a:rPr>
              <a:t>The headlines, paragraphs, and bullet points a person would read.</a:t>
            </a:r>
            <a:endParaRPr lang="en-US" sz="1150" dirty="0"/>
          </a:p>
        </p:txBody>
      </p:sp>
      <p:sp>
        <p:nvSpPr>
          <p:cNvPr id="11" name="Shape 8"/>
          <p:cNvSpPr/>
          <p:nvPr/>
        </p:nvSpPr>
        <p:spPr>
          <a:xfrm>
            <a:off x="502920" y="3447288"/>
            <a:ext cx="146304" cy="146304"/>
          </a:xfrm>
          <a:prstGeom prst="ellipse">
            <a:avLst/>
          </a:prstGeom>
          <a:solidFill>
            <a:srgbClr val="0078D4"/>
          </a:solidFill>
          <a:ln/>
        </p:spPr>
      </p:sp>
      <p:sp>
        <p:nvSpPr>
          <p:cNvPr id="12" name="Text 9"/>
          <p:cNvSpPr/>
          <p:nvPr/>
        </p:nvSpPr>
        <p:spPr>
          <a:xfrm>
            <a:off x="777240" y="3337560"/>
            <a:ext cx="4572000" cy="256032"/>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The hidden text</a:t>
            </a:r>
            <a:endParaRPr lang="en-US" sz="1400" dirty="0"/>
          </a:p>
        </p:txBody>
      </p:sp>
      <p:sp>
        <p:nvSpPr>
          <p:cNvPr id="13" name="Text 10"/>
          <p:cNvSpPr/>
          <p:nvPr/>
        </p:nvSpPr>
        <p:spPr>
          <a:xfrm>
            <a:off x="777240" y="3575304"/>
            <a:ext cx="9144000" cy="329184"/>
          </a:xfrm>
          <a:prstGeom prst="rect">
            <a:avLst/>
          </a:prstGeom>
          <a:noFill/>
          <a:ln/>
        </p:spPr>
        <p:txBody>
          <a:bodyPr wrap="square" lIns="0" tIns="0" rIns="0" bIns="0" rtlCol="0" anchor="ctr"/>
          <a:lstStyle/>
          <a:p>
            <a:pPr indent="0" marL="0">
              <a:buNone/>
            </a:pPr>
            <a:r>
              <a:rPr lang="en-US" sz="1150" dirty="0">
                <a:solidFill>
                  <a:srgbClr val="4A4D57"/>
                </a:solidFill>
                <a:latin typeface="Calibri" pitchFamily="34" charset="0"/>
                <a:ea typeface="Calibri" pitchFamily="34" charset="-122"/>
                <a:cs typeface="Calibri" pitchFamily="34" charset="-120"/>
              </a:rPr>
              <a:t>White-on-white, tiny font, off-canvas, zero-opacity — anything an attacker placed out of human sight.</a:t>
            </a:r>
            <a:endParaRPr lang="en-US" sz="1150" dirty="0"/>
          </a:p>
        </p:txBody>
      </p:sp>
      <p:sp>
        <p:nvSpPr>
          <p:cNvPr id="14" name="Shape 11"/>
          <p:cNvSpPr/>
          <p:nvPr/>
        </p:nvSpPr>
        <p:spPr>
          <a:xfrm>
            <a:off x="502920" y="4014216"/>
            <a:ext cx="146304" cy="146304"/>
          </a:xfrm>
          <a:prstGeom prst="ellipse">
            <a:avLst/>
          </a:prstGeom>
          <a:solidFill>
            <a:srgbClr val="0078D4"/>
          </a:solidFill>
          <a:ln/>
        </p:spPr>
      </p:sp>
      <p:sp>
        <p:nvSpPr>
          <p:cNvPr id="15" name="Text 12"/>
          <p:cNvSpPr/>
          <p:nvPr/>
        </p:nvSpPr>
        <p:spPr>
          <a:xfrm>
            <a:off x="777240" y="3904488"/>
            <a:ext cx="4572000" cy="256032"/>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Text inside images, audio, video</a:t>
            </a:r>
            <a:endParaRPr lang="en-US" sz="1400" dirty="0"/>
          </a:p>
        </p:txBody>
      </p:sp>
      <p:sp>
        <p:nvSpPr>
          <p:cNvPr id="16" name="Text 13"/>
          <p:cNvSpPr/>
          <p:nvPr/>
        </p:nvSpPr>
        <p:spPr>
          <a:xfrm>
            <a:off x="777240" y="4142232"/>
            <a:ext cx="9144000" cy="329184"/>
          </a:xfrm>
          <a:prstGeom prst="rect">
            <a:avLst/>
          </a:prstGeom>
          <a:noFill/>
          <a:ln/>
        </p:spPr>
        <p:txBody>
          <a:bodyPr wrap="square" lIns="0" tIns="0" rIns="0" bIns="0" rtlCol="0" anchor="ctr"/>
          <a:lstStyle/>
          <a:p>
            <a:pPr indent="0" marL="0">
              <a:buNone/>
            </a:pPr>
            <a:r>
              <a:rPr lang="en-US" sz="1150" dirty="0">
                <a:solidFill>
                  <a:srgbClr val="4A4D57"/>
                </a:solidFill>
                <a:latin typeface="Calibri" pitchFamily="34" charset="0"/>
                <a:ea typeface="Calibri" pitchFamily="34" charset="-122"/>
                <a:cs typeface="Calibri" pitchFamily="34" charset="-120"/>
              </a:rPr>
              <a:t>OCR on embedded images. Speech-to-text on audio. Subtitles on video. Even text encoded into image pixels.</a:t>
            </a:r>
            <a:endParaRPr lang="en-US" sz="1150" dirty="0"/>
          </a:p>
        </p:txBody>
      </p:sp>
      <p:sp>
        <p:nvSpPr>
          <p:cNvPr id="17" name="Shape 14"/>
          <p:cNvSpPr/>
          <p:nvPr/>
        </p:nvSpPr>
        <p:spPr>
          <a:xfrm>
            <a:off x="502920" y="4581144"/>
            <a:ext cx="146304" cy="146304"/>
          </a:xfrm>
          <a:prstGeom prst="ellipse">
            <a:avLst/>
          </a:prstGeom>
          <a:solidFill>
            <a:srgbClr val="0078D4"/>
          </a:solidFill>
          <a:ln/>
        </p:spPr>
      </p:sp>
      <p:sp>
        <p:nvSpPr>
          <p:cNvPr id="18" name="Text 15"/>
          <p:cNvSpPr/>
          <p:nvPr/>
        </p:nvSpPr>
        <p:spPr>
          <a:xfrm>
            <a:off x="777240" y="4471416"/>
            <a:ext cx="4572000" cy="256032"/>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The file's own properties</a:t>
            </a:r>
            <a:endParaRPr lang="en-US" sz="1400" dirty="0"/>
          </a:p>
        </p:txBody>
      </p:sp>
      <p:sp>
        <p:nvSpPr>
          <p:cNvPr id="19" name="Text 16"/>
          <p:cNvSpPr/>
          <p:nvPr/>
        </p:nvSpPr>
        <p:spPr>
          <a:xfrm>
            <a:off x="777240" y="4709160"/>
            <a:ext cx="9144000" cy="329184"/>
          </a:xfrm>
          <a:prstGeom prst="rect">
            <a:avLst/>
          </a:prstGeom>
          <a:noFill/>
          <a:ln/>
        </p:spPr>
        <p:txBody>
          <a:bodyPr wrap="square" lIns="0" tIns="0" rIns="0" bIns="0" rtlCol="0" anchor="ctr"/>
          <a:lstStyle/>
          <a:p>
            <a:pPr indent="0" marL="0">
              <a:buNone/>
            </a:pPr>
            <a:r>
              <a:rPr lang="en-US" sz="1150" dirty="0">
                <a:solidFill>
                  <a:srgbClr val="4A4D57"/>
                </a:solidFill>
                <a:latin typeface="Calibri" pitchFamily="34" charset="0"/>
                <a:ea typeface="Calibri" pitchFamily="34" charset="-122"/>
                <a:cs typeface="Calibri" pitchFamily="34" charset="-120"/>
              </a:rPr>
              <a:t>Author, title, subject, comments, EXIF, ID3 — every metadata field the file format defines.</a:t>
            </a:r>
            <a:endParaRPr lang="en-US" sz="1150" dirty="0"/>
          </a:p>
        </p:txBody>
      </p:sp>
      <p:sp>
        <p:nvSpPr>
          <p:cNvPr id="20" name="Shape 17"/>
          <p:cNvSpPr/>
          <p:nvPr/>
        </p:nvSpPr>
        <p:spPr>
          <a:xfrm>
            <a:off x="502920" y="5148072"/>
            <a:ext cx="146304" cy="146304"/>
          </a:xfrm>
          <a:prstGeom prst="ellipse">
            <a:avLst/>
          </a:prstGeom>
          <a:solidFill>
            <a:srgbClr val="0078D4"/>
          </a:solidFill>
          <a:ln/>
        </p:spPr>
      </p:sp>
      <p:sp>
        <p:nvSpPr>
          <p:cNvPr id="21" name="Text 18"/>
          <p:cNvSpPr/>
          <p:nvPr/>
        </p:nvSpPr>
        <p:spPr>
          <a:xfrm>
            <a:off x="777240" y="5038344"/>
            <a:ext cx="4572000" cy="256032"/>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What's inside encoded blobs</a:t>
            </a:r>
            <a:endParaRPr lang="en-US" sz="1400" dirty="0"/>
          </a:p>
        </p:txBody>
      </p:sp>
      <p:sp>
        <p:nvSpPr>
          <p:cNvPr id="22" name="Text 19"/>
          <p:cNvSpPr/>
          <p:nvPr/>
        </p:nvSpPr>
        <p:spPr>
          <a:xfrm>
            <a:off x="777240" y="5276088"/>
            <a:ext cx="9144000" cy="329184"/>
          </a:xfrm>
          <a:prstGeom prst="rect">
            <a:avLst/>
          </a:prstGeom>
          <a:noFill/>
          <a:ln/>
        </p:spPr>
        <p:txBody>
          <a:bodyPr wrap="square" lIns="0" tIns="0" rIns="0" bIns="0" rtlCol="0" anchor="ctr"/>
          <a:lstStyle/>
          <a:p>
            <a:pPr indent="0" marL="0">
              <a:buNone/>
            </a:pPr>
            <a:r>
              <a:rPr lang="en-US" sz="1150" dirty="0">
                <a:solidFill>
                  <a:srgbClr val="4A4D57"/>
                </a:solidFill>
                <a:latin typeface="Calibri" pitchFamily="34" charset="0"/>
                <a:ea typeface="Calibri" pitchFamily="34" charset="-122"/>
                <a:cs typeface="Calibri" pitchFamily="34" charset="-120"/>
              </a:rPr>
              <a:t>Base64, hex, URL-encoded payloads decoded and read as plain text. Blobs-inside-blobs unwrapped twice.</a:t>
            </a:r>
            <a:endParaRPr lang="en-US" sz="1150" dirty="0"/>
          </a:p>
        </p:txBody>
      </p:sp>
      <p:sp>
        <p:nvSpPr>
          <p:cNvPr id="23" name="Shape 20"/>
          <p:cNvSpPr/>
          <p:nvPr/>
        </p:nvSpPr>
        <p:spPr>
          <a:xfrm>
            <a:off x="502920" y="5650992"/>
            <a:ext cx="11185855" cy="640080"/>
          </a:xfrm>
          <a:prstGeom prst="roundRect">
            <a:avLst>
              <a:gd name="adj" fmla="val 17143"/>
            </a:avLst>
          </a:prstGeom>
          <a:solidFill>
            <a:srgbClr val="FBE5EA"/>
          </a:solidFill>
          <a:ln w="7620">
            <a:solidFill>
              <a:srgbClr val="E40029"/>
            </a:solidFill>
            <a:prstDash val="solid"/>
          </a:ln>
        </p:spPr>
      </p:sp>
      <p:sp>
        <p:nvSpPr>
          <p:cNvPr id="24" name="Text 21"/>
          <p:cNvSpPr/>
          <p:nvPr/>
        </p:nvSpPr>
        <p:spPr>
          <a:xfrm>
            <a:off x="731520" y="5650992"/>
            <a:ext cx="10728655" cy="640080"/>
          </a:xfrm>
          <a:prstGeom prst="rect">
            <a:avLst/>
          </a:prstGeom>
          <a:noFill/>
          <a:ln/>
        </p:spPr>
        <p:txBody>
          <a:bodyPr wrap="square" lIns="0" tIns="0" rIns="0" bIns="0" rtlCol="0" anchor="ctr"/>
          <a:lstStyle/>
          <a:p>
            <a:pPr indent="0" marL="0">
              <a:buNone/>
            </a:pPr>
            <a:r>
              <a:rPr lang="en-US" sz="1300" i="1" dirty="0">
                <a:solidFill>
                  <a:srgbClr val="1A1A1A"/>
                </a:solidFill>
                <a:latin typeface="Calibri" pitchFamily="34" charset="0"/>
                <a:ea typeface="Calibri" pitchFamily="34" charset="-122"/>
                <a:cs typeface="Calibri" pitchFamily="34" charset="-120"/>
              </a:rPr>
              <a:t>Outcome: a flat list of text fragments — visible, hidden, encoded, transcribed, decoded — each tagged with where it came from.</a:t>
            </a:r>
            <a:endParaRPr lang="en-US" sz="1300" dirty="0"/>
          </a:p>
        </p:txBody>
      </p:sp>
      <p:sp>
        <p:nvSpPr>
          <p:cNvPr id="25" name="Shape 22"/>
          <p:cNvSpPr/>
          <p:nvPr/>
        </p:nvSpPr>
        <p:spPr>
          <a:xfrm>
            <a:off x="502920" y="6446520"/>
            <a:ext cx="11185855" cy="0"/>
          </a:xfrm>
          <a:prstGeom prst="line">
            <a:avLst/>
          </a:prstGeom>
          <a:noFill/>
          <a:ln w="6350">
            <a:solidFill>
              <a:srgbClr val="DFE2EA"/>
            </a:solidFill>
            <a:prstDash val="solid"/>
          </a:ln>
        </p:spPr>
      </p:sp>
      <p:sp>
        <p:nvSpPr>
          <p:cNvPr id="26" name="Text 23"/>
          <p:cNvSpPr/>
          <p:nvPr/>
        </p:nvSpPr>
        <p:spPr>
          <a:xfrm>
            <a:off x="502920" y="6510528"/>
            <a:ext cx="7315200" cy="274320"/>
          </a:xfrm>
          <a:prstGeom prst="rect">
            <a:avLst/>
          </a:prstGeom>
          <a:noFill/>
          <a:ln/>
        </p:spPr>
        <p:txBody>
          <a:bodyPr wrap="square" lIns="0" tIns="0" rIns="0" bIns="0" rtlCol="0" anchor="ctr"/>
          <a:lstStyle/>
          <a:p>
            <a:pPr indent="0" marL="0">
              <a:buNone/>
            </a:pPr>
            <a:r>
              <a:rPr lang="en-US" sz="900" dirty="0">
                <a:solidFill>
                  <a:srgbClr val="7A7E8A"/>
                </a:solidFill>
                <a:latin typeface="Calibri" pitchFamily="34" charset="0"/>
                <a:ea typeface="Calibri" pitchFamily="34" charset="-122"/>
                <a:cs typeface="Calibri" pitchFamily="34" charset="-120"/>
              </a:rPr>
              <a:t>Trapdoor · Working architecture</a:t>
            </a:r>
            <a:endParaRPr lang="en-US" sz="900" dirty="0"/>
          </a:p>
        </p:txBody>
      </p:sp>
      <p:sp>
        <p:nvSpPr>
          <p:cNvPr id="27" name="Text 24"/>
          <p:cNvSpPr/>
          <p:nvPr/>
        </p:nvSpPr>
        <p:spPr>
          <a:xfrm>
            <a:off x="10637215" y="6510528"/>
            <a:ext cx="1051560" cy="274320"/>
          </a:xfrm>
          <a:prstGeom prst="rect">
            <a:avLst/>
          </a:prstGeom>
          <a:noFill/>
          <a:ln/>
        </p:spPr>
        <p:txBody>
          <a:bodyPr wrap="square" lIns="0" tIns="0" rIns="0" bIns="0" rtlCol="0" anchor="ctr"/>
          <a:lstStyle/>
          <a:p>
            <a:pPr algn="r" indent="0" marL="0">
              <a:buNone/>
            </a:pPr>
            <a:r>
              <a:rPr lang="en-US" sz="900" dirty="0">
                <a:solidFill>
                  <a:srgbClr val="7A7E8A"/>
                </a:solidFill>
                <a:latin typeface="Calibri" pitchFamily="34" charset="0"/>
                <a:ea typeface="Calibri" pitchFamily="34" charset="-122"/>
                <a:cs typeface="Calibri" pitchFamily="34" charset="-120"/>
              </a:rPr>
              <a:t>4 / 12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5F9"/>
        </a:solidFill>
      </p:bgPr>
    </p:bg>
    <p:spTree>
      <p:nvGrpSpPr>
        <p:cNvPr id="1" name=""/>
        <p:cNvGrpSpPr/>
        <p:nvPr/>
      </p:nvGrpSpPr>
      <p:grpSpPr>
        <a:xfrm>
          <a:off x="0" y="0"/>
          <a:ext cx="0" cy="0"/>
          <a:chOff x="0" y="0"/>
          <a:chExt cx="0" cy="0"/>
        </a:xfrm>
      </p:grpSpPr>
      <p:sp>
        <p:nvSpPr>
          <p:cNvPr id="2" name="Shape 0"/>
          <p:cNvSpPr/>
          <p:nvPr/>
        </p:nvSpPr>
        <p:spPr>
          <a:xfrm>
            <a:off x="502920" y="868680"/>
            <a:ext cx="201168" cy="292608"/>
          </a:xfrm>
          <a:prstGeom prst="rect">
            <a:avLst/>
          </a:prstGeom>
          <a:solidFill>
            <a:srgbClr val="E40029"/>
          </a:solidFill>
          <a:ln/>
        </p:spPr>
      </p:sp>
      <p:sp>
        <p:nvSpPr>
          <p:cNvPr id="3" name="Text 1"/>
          <p:cNvSpPr/>
          <p:nvPr/>
        </p:nvSpPr>
        <p:spPr>
          <a:xfrm>
            <a:off x="822960" y="850392"/>
            <a:ext cx="6858000" cy="329184"/>
          </a:xfrm>
          <a:prstGeom prst="rect">
            <a:avLst/>
          </a:prstGeom>
          <a:noFill/>
          <a:ln/>
        </p:spPr>
        <p:txBody>
          <a:bodyPr wrap="square" lIns="0" tIns="0" rIns="0" bIns="0" rtlCol="0" anchor="ctr"/>
          <a:lstStyle/>
          <a:p>
            <a:pPr indent="0" marL="0">
              <a:buNone/>
            </a:pPr>
            <a:r>
              <a:rPr lang="en-US" sz="1100" b="1" spc="400" kern="0" dirty="0">
                <a:solidFill>
                  <a:srgbClr val="E40029"/>
                </a:solidFill>
                <a:latin typeface="Calibri" pitchFamily="34" charset="0"/>
                <a:ea typeface="Calibri" pitchFamily="34" charset="-122"/>
                <a:cs typeface="Calibri" pitchFamily="34" charset="-120"/>
              </a:rPr>
              <a:t>STAGE 2 · DETECT</a:t>
            </a:r>
            <a:endParaRPr lang="en-US" sz="1100" dirty="0"/>
          </a:p>
        </p:txBody>
      </p:sp>
      <p:sp>
        <p:nvSpPr>
          <p:cNvPr id="4" name="Text 2"/>
          <p:cNvSpPr/>
          <p:nvPr/>
        </p:nvSpPr>
        <p:spPr>
          <a:xfrm>
            <a:off x="502920" y="1243584"/>
            <a:ext cx="11185855" cy="777240"/>
          </a:xfrm>
          <a:prstGeom prst="rect">
            <a:avLst/>
          </a:prstGeom>
          <a:noFill/>
          <a:ln/>
        </p:spPr>
        <p:txBody>
          <a:bodyPr wrap="square" lIns="0" tIns="0" rIns="0" bIns="0" rtlCol="0" anchor="t"/>
          <a:lstStyle/>
          <a:p>
            <a:pPr algn="l" indent="0" marL="0">
              <a:buNone/>
            </a:pPr>
            <a:r>
              <a:rPr lang="en-US" sz="3400" b="1" dirty="0">
                <a:solidFill>
                  <a:srgbClr val="1A1A1A"/>
                </a:solidFill>
                <a:latin typeface="Calibri" pitchFamily="34" charset="0"/>
                <a:ea typeface="Calibri" pitchFamily="34" charset="-122"/>
                <a:cs typeface="Calibri" pitchFamily="34" charset="-120"/>
              </a:rPr>
              <a:t>Ten checks. Different angles. One verdict.</a:t>
            </a:r>
            <a:endParaRPr lang="en-US" sz="3400" dirty="0"/>
          </a:p>
        </p:txBody>
      </p:sp>
      <p:sp>
        <p:nvSpPr>
          <p:cNvPr id="5" name="Text 3"/>
          <p:cNvSpPr/>
          <p:nvPr/>
        </p:nvSpPr>
        <p:spPr>
          <a:xfrm>
            <a:off x="502920" y="1993392"/>
            <a:ext cx="11185855" cy="411480"/>
          </a:xfrm>
          <a:prstGeom prst="rect">
            <a:avLst/>
          </a:prstGeom>
          <a:noFill/>
          <a:ln/>
        </p:spPr>
        <p:txBody>
          <a:bodyPr wrap="square" lIns="0" tIns="0" rIns="0" bIns="0" rtlCol="0" anchor="ctr"/>
          <a:lstStyle/>
          <a:p>
            <a:pPr indent="0" marL="0">
              <a:buNone/>
            </a:pPr>
            <a:r>
              <a:rPr lang="en-US" sz="1400" dirty="0">
                <a:solidFill>
                  <a:srgbClr val="4A4D57"/>
                </a:solidFill>
                <a:latin typeface="Calibri" pitchFamily="34" charset="0"/>
                <a:ea typeface="Calibri" pitchFamily="34" charset="-122"/>
                <a:cs typeface="Calibri" pitchFamily="34" charset="-120"/>
              </a:rPr>
              <a:t>Each text fragment is examined by ten independent specialists. An attacker has to defeat every one of them simultaneously to slip through.</a:t>
            </a:r>
            <a:endParaRPr lang="en-US" sz="1400" dirty="0"/>
          </a:p>
        </p:txBody>
      </p:sp>
      <p:sp>
        <p:nvSpPr>
          <p:cNvPr id="6" name="Shape 4"/>
          <p:cNvSpPr/>
          <p:nvPr/>
        </p:nvSpPr>
        <p:spPr>
          <a:xfrm>
            <a:off x="502920" y="2542032"/>
            <a:ext cx="11185855" cy="0"/>
          </a:xfrm>
          <a:prstGeom prst="line">
            <a:avLst/>
          </a:prstGeom>
          <a:noFill/>
          <a:ln w="9525">
            <a:solidFill>
              <a:srgbClr val="DFE2EA"/>
            </a:solidFill>
            <a:prstDash val="solid"/>
          </a:ln>
        </p:spPr>
      </p:sp>
      <p:pic>
        <p:nvPicPr>
          <p:cNvPr id="7" name="Image 0" descr="assets/tech-mahindra-logo.png">    </p:cNvPr>
          <p:cNvPicPr>
            <a:picLocks noChangeAspect="1"/>
          </p:cNvPicPr>
          <p:nvPr/>
        </p:nvPicPr>
        <p:blipFill>
          <a:blip r:embed="rId1"/>
          <a:stretch>
            <a:fillRect/>
          </a:stretch>
        </p:blipFill>
        <p:spPr>
          <a:xfrm>
            <a:off x="10183952" y="384048"/>
            <a:ext cx="1504824" cy="411480"/>
          </a:xfrm>
          <a:prstGeom prst="rect">
            <a:avLst/>
          </a:prstGeom>
        </p:spPr>
      </p:pic>
      <p:sp>
        <p:nvSpPr>
          <p:cNvPr id="8" name="Shape 5"/>
          <p:cNvSpPr/>
          <p:nvPr/>
        </p:nvSpPr>
        <p:spPr>
          <a:xfrm>
            <a:off x="502920" y="2843784"/>
            <a:ext cx="54864" cy="502920"/>
          </a:xfrm>
          <a:prstGeom prst="rect">
            <a:avLst/>
          </a:prstGeom>
          <a:solidFill>
            <a:srgbClr val="6F42C1"/>
          </a:solidFill>
          <a:ln/>
        </p:spPr>
      </p:sp>
      <p:sp>
        <p:nvSpPr>
          <p:cNvPr id="9" name="Text 6"/>
          <p:cNvSpPr/>
          <p:nvPr/>
        </p:nvSpPr>
        <p:spPr>
          <a:xfrm>
            <a:off x="667512" y="2770632"/>
            <a:ext cx="5029200" cy="256032"/>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Known attack phrasing</a:t>
            </a:r>
            <a:endParaRPr lang="en-US" sz="1300" dirty="0"/>
          </a:p>
        </p:txBody>
      </p:sp>
      <p:sp>
        <p:nvSpPr>
          <p:cNvPr id="10" name="Text 7"/>
          <p:cNvSpPr/>
          <p:nvPr/>
        </p:nvSpPr>
        <p:spPr>
          <a:xfrm>
            <a:off x="667512" y="3008376"/>
            <a:ext cx="5029200" cy="384048"/>
          </a:xfrm>
          <a:prstGeom prst="rect">
            <a:avLst/>
          </a:prstGeom>
          <a:noFill/>
          <a:ln/>
        </p:spPr>
        <p:txBody>
          <a:bodyPr wrap="square" lIns="0" tIns="0" rIns="0" bIns="0" rtlCol="0" anchor="ctr"/>
          <a:lstStyle/>
          <a:p>
            <a:pPr indent="0" marL="0">
              <a:buNone/>
            </a:pPr>
            <a:r>
              <a:rPr lang="en-US" sz="1050" dirty="0">
                <a:solidFill>
                  <a:srgbClr val="4A4D57"/>
                </a:solidFill>
                <a:latin typeface="Calibri" pitchFamily="34" charset="0"/>
                <a:ea typeface="Calibri" pitchFamily="34" charset="-122"/>
                <a:cs typeface="Calibri" pitchFamily="34" charset="-120"/>
              </a:rPr>
              <a:t>Sentences like "ignore previous instructions" — recognised even when disguised.</a:t>
            </a:r>
            <a:endParaRPr lang="en-US" sz="1050" dirty="0"/>
          </a:p>
        </p:txBody>
      </p:sp>
      <p:sp>
        <p:nvSpPr>
          <p:cNvPr id="11" name="Shape 8"/>
          <p:cNvSpPr/>
          <p:nvPr/>
        </p:nvSpPr>
        <p:spPr>
          <a:xfrm>
            <a:off x="502920" y="3502152"/>
            <a:ext cx="54864" cy="502920"/>
          </a:xfrm>
          <a:prstGeom prst="rect">
            <a:avLst/>
          </a:prstGeom>
          <a:solidFill>
            <a:srgbClr val="6F42C1"/>
          </a:solidFill>
          <a:ln/>
        </p:spPr>
      </p:sp>
      <p:sp>
        <p:nvSpPr>
          <p:cNvPr id="12" name="Text 9"/>
          <p:cNvSpPr/>
          <p:nvPr/>
        </p:nvSpPr>
        <p:spPr>
          <a:xfrm>
            <a:off x="667512" y="3429000"/>
            <a:ext cx="5029200" cy="256032"/>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Invisible characters</a:t>
            </a:r>
            <a:endParaRPr lang="en-US" sz="1300" dirty="0"/>
          </a:p>
        </p:txBody>
      </p:sp>
      <p:sp>
        <p:nvSpPr>
          <p:cNvPr id="13" name="Text 10"/>
          <p:cNvSpPr/>
          <p:nvPr/>
        </p:nvSpPr>
        <p:spPr>
          <a:xfrm>
            <a:off x="667512" y="3666744"/>
            <a:ext cx="5029200" cy="384048"/>
          </a:xfrm>
          <a:prstGeom prst="rect">
            <a:avLst/>
          </a:prstGeom>
          <a:noFill/>
          <a:ln/>
        </p:spPr>
        <p:txBody>
          <a:bodyPr wrap="square" lIns="0" tIns="0" rIns="0" bIns="0" rtlCol="0" anchor="ctr"/>
          <a:lstStyle/>
          <a:p>
            <a:pPr indent="0" marL="0">
              <a:buNone/>
            </a:pPr>
            <a:r>
              <a:rPr lang="en-US" sz="1050" dirty="0">
                <a:solidFill>
                  <a:srgbClr val="4A4D57"/>
                </a:solidFill>
                <a:latin typeface="Calibri" pitchFamily="34" charset="0"/>
                <a:ea typeface="Calibri" pitchFamily="34" charset="-122"/>
                <a:cs typeface="Calibri" pitchFamily="34" charset="-120"/>
              </a:rPr>
              <a:t>Zero-width spaces, hidden tag glyphs, math-style letters that tokenize differently.</a:t>
            </a:r>
            <a:endParaRPr lang="en-US" sz="1050" dirty="0"/>
          </a:p>
        </p:txBody>
      </p:sp>
      <p:sp>
        <p:nvSpPr>
          <p:cNvPr id="14" name="Shape 11"/>
          <p:cNvSpPr/>
          <p:nvPr/>
        </p:nvSpPr>
        <p:spPr>
          <a:xfrm>
            <a:off x="502920" y="4160520"/>
            <a:ext cx="54864" cy="502920"/>
          </a:xfrm>
          <a:prstGeom prst="rect">
            <a:avLst/>
          </a:prstGeom>
          <a:solidFill>
            <a:srgbClr val="6F42C1"/>
          </a:solidFill>
          <a:ln/>
        </p:spPr>
      </p:sp>
      <p:sp>
        <p:nvSpPr>
          <p:cNvPr id="15" name="Text 12"/>
          <p:cNvSpPr/>
          <p:nvPr/>
        </p:nvSpPr>
        <p:spPr>
          <a:xfrm>
            <a:off x="667512" y="4087368"/>
            <a:ext cx="5029200" cy="256032"/>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Hidden text</a:t>
            </a:r>
            <a:endParaRPr lang="en-US" sz="1300" dirty="0"/>
          </a:p>
        </p:txBody>
      </p:sp>
      <p:sp>
        <p:nvSpPr>
          <p:cNvPr id="16" name="Text 13"/>
          <p:cNvSpPr/>
          <p:nvPr/>
        </p:nvSpPr>
        <p:spPr>
          <a:xfrm>
            <a:off x="667512" y="4325112"/>
            <a:ext cx="5029200" cy="384048"/>
          </a:xfrm>
          <a:prstGeom prst="rect">
            <a:avLst/>
          </a:prstGeom>
          <a:noFill/>
          <a:ln/>
        </p:spPr>
        <p:txBody>
          <a:bodyPr wrap="square" lIns="0" tIns="0" rIns="0" bIns="0" rtlCol="0" anchor="ctr"/>
          <a:lstStyle/>
          <a:p>
            <a:pPr indent="0" marL="0">
              <a:buNone/>
            </a:pPr>
            <a:r>
              <a:rPr lang="en-US" sz="1050" dirty="0">
                <a:solidFill>
                  <a:srgbClr val="4A4D57"/>
                </a:solidFill>
                <a:latin typeface="Calibri" pitchFamily="34" charset="0"/>
                <a:ea typeface="Calibri" pitchFamily="34" charset="-122"/>
                <a:cs typeface="Calibri" pitchFamily="34" charset="-120"/>
              </a:rPr>
              <a:t>Anything the file rendered out of human sight, plus how much of the page it covered.</a:t>
            </a:r>
            <a:endParaRPr lang="en-US" sz="1050" dirty="0"/>
          </a:p>
        </p:txBody>
      </p:sp>
      <p:sp>
        <p:nvSpPr>
          <p:cNvPr id="17" name="Shape 14"/>
          <p:cNvSpPr/>
          <p:nvPr/>
        </p:nvSpPr>
        <p:spPr>
          <a:xfrm>
            <a:off x="502920" y="4818888"/>
            <a:ext cx="54864" cy="502920"/>
          </a:xfrm>
          <a:prstGeom prst="rect">
            <a:avLst/>
          </a:prstGeom>
          <a:solidFill>
            <a:srgbClr val="6F42C1"/>
          </a:solidFill>
          <a:ln/>
        </p:spPr>
      </p:sp>
      <p:sp>
        <p:nvSpPr>
          <p:cNvPr id="18" name="Text 15"/>
          <p:cNvSpPr/>
          <p:nvPr/>
        </p:nvSpPr>
        <p:spPr>
          <a:xfrm>
            <a:off x="667512" y="4745736"/>
            <a:ext cx="5029200" cy="256032"/>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Suspect metadata</a:t>
            </a:r>
            <a:endParaRPr lang="en-US" sz="1300" dirty="0"/>
          </a:p>
        </p:txBody>
      </p:sp>
      <p:sp>
        <p:nvSpPr>
          <p:cNvPr id="19" name="Text 16"/>
          <p:cNvSpPr/>
          <p:nvPr/>
        </p:nvSpPr>
        <p:spPr>
          <a:xfrm>
            <a:off x="667512" y="4983480"/>
            <a:ext cx="5029200" cy="384048"/>
          </a:xfrm>
          <a:prstGeom prst="rect">
            <a:avLst/>
          </a:prstGeom>
          <a:noFill/>
          <a:ln/>
        </p:spPr>
        <p:txBody>
          <a:bodyPr wrap="square" lIns="0" tIns="0" rIns="0" bIns="0" rtlCol="0" anchor="ctr"/>
          <a:lstStyle/>
          <a:p>
            <a:pPr indent="0" marL="0">
              <a:buNone/>
            </a:pPr>
            <a:r>
              <a:rPr lang="en-US" sz="1050" dirty="0">
                <a:solidFill>
                  <a:srgbClr val="4A4D57"/>
                </a:solidFill>
                <a:latin typeface="Calibri" pitchFamily="34" charset="0"/>
                <a:ea typeface="Calibri" pitchFamily="34" charset="-122"/>
                <a:cs typeface="Calibri" pitchFamily="34" charset="-120"/>
              </a:rPr>
              <a:t>Authors named "SYSTEM", command-shaped subjects, exfiltration links in keywords.</a:t>
            </a:r>
            <a:endParaRPr lang="en-US" sz="1050" dirty="0"/>
          </a:p>
        </p:txBody>
      </p:sp>
      <p:sp>
        <p:nvSpPr>
          <p:cNvPr id="20" name="Shape 17"/>
          <p:cNvSpPr/>
          <p:nvPr/>
        </p:nvSpPr>
        <p:spPr>
          <a:xfrm>
            <a:off x="502920" y="5477256"/>
            <a:ext cx="54864" cy="502920"/>
          </a:xfrm>
          <a:prstGeom prst="rect">
            <a:avLst/>
          </a:prstGeom>
          <a:solidFill>
            <a:srgbClr val="6F42C1"/>
          </a:solidFill>
          <a:ln/>
        </p:spPr>
      </p:sp>
      <p:sp>
        <p:nvSpPr>
          <p:cNvPr id="21" name="Text 18"/>
          <p:cNvSpPr/>
          <p:nvPr/>
        </p:nvSpPr>
        <p:spPr>
          <a:xfrm>
            <a:off x="667512" y="5404104"/>
            <a:ext cx="5029200" cy="256032"/>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Images that hide messages</a:t>
            </a:r>
            <a:endParaRPr lang="en-US" sz="1300" dirty="0"/>
          </a:p>
        </p:txBody>
      </p:sp>
      <p:sp>
        <p:nvSpPr>
          <p:cNvPr id="22" name="Text 19"/>
          <p:cNvSpPr/>
          <p:nvPr/>
        </p:nvSpPr>
        <p:spPr>
          <a:xfrm>
            <a:off x="667512" y="5641848"/>
            <a:ext cx="5029200" cy="384048"/>
          </a:xfrm>
          <a:prstGeom prst="rect">
            <a:avLst/>
          </a:prstGeom>
          <a:noFill/>
          <a:ln/>
        </p:spPr>
        <p:txBody>
          <a:bodyPr wrap="square" lIns="0" tIns="0" rIns="0" bIns="0" rtlCol="0" anchor="ctr"/>
          <a:lstStyle/>
          <a:p>
            <a:pPr indent="0" marL="0">
              <a:buNone/>
            </a:pPr>
            <a:r>
              <a:rPr lang="en-US" sz="1050" dirty="0">
                <a:solidFill>
                  <a:srgbClr val="4A4D57"/>
                </a:solidFill>
                <a:latin typeface="Calibri" pitchFamily="34" charset="0"/>
                <a:ea typeface="Calibri" pitchFamily="34" charset="-122"/>
                <a:cs typeface="Calibri" pitchFamily="34" charset="-120"/>
              </a:rPr>
              <a:t>Text encoded into pixel bits — invisible to the eye, trivially decodable by an attacker.</a:t>
            </a:r>
            <a:endParaRPr lang="en-US" sz="1050" dirty="0"/>
          </a:p>
        </p:txBody>
      </p:sp>
      <p:sp>
        <p:nvSpPr>
          <p:cNvPr id="23" name="Shape 20"/>
          <p:cNvSpPr/>
          <p:nvPr/>
        </p:nvSpPr>
        <p:spPr>
          <a:xfrm>
            <a:off x="6080760" y="2843784"/>
            <a:ext cx="54864" cy="502920"/>
          </a:xfrm>
          <a:prstGeom prst="rect">
            <a:avLst/>
          </a:prstGeom>
          <a:solidFill>
            <a:srgbClr val="6F42C1"/>
          </a:solidFill>
          <a:ln/>
        </p:spPr>
      </p:sp>
      <p:sp>
        <p:nvSpPr>
          <p:cNvPr id="24" name="Text 21"/>
          <p:cNvSpPr/>
          <p:nvPr/>
        </p:nvSpPr>
        <p:spPr>
          <a:xfrm>
            <a:off x="6245352" y="2770632"/>
            <a:ext cx="5029200" cy="256032"/>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Encoded payloads</a:t>
            </a:r>
            <a:endParaRPr lang="en-US" sz="1300" dirty="0"/>
          </a:p>
        </p:txBody>
      </p:sp>
      <p:sp>
        <p:nvSpPr>
          <p:cNvPr id="25" name="Text 22"/>
          <p:cNvSpPr/>
          <p:nvPr/>
        </p:nvSpPr>
        <p:spPr>
          <a:xfrm>
            <a:off x="6245352" y="3008376"/>
            <a:ext cx="5029200" cy="384048"/>
          </a:xfrm>
          <a:prstGeom prst="rect">
            <a:avLst/>
          </a:prstGeom>
          <a:noFill/>
          <a:ln/>
        </p:spPr>
        <p:txBody>
          <a:bodyPr wrap="square" lIns="0" tIns="0" rIns="0" bIns="0" rtlCol="0" anchor="ctr"/>
          <a:lstStyle/>
          <a:p>
            <a:pPr indent="0" marL="0">
              <a:buNone/>
            </a:pPr>
            <a:r>
              <a:rPr lang="en-US" sz="1050" dirty="0">
                <a:solidFill>
                  <a:srgbClr val="4A4D57"/>
                </a:solidFill>
                <a:latin typeface="Calibri" pitchFamily="34" charset="0"/>
                <a:ea typeface="Calibri" pitchFamily="34" charset="-122"/>
                <a:cs typeface="Calibri" pitchFamily="34" charset="-120"/>
              </a:rPr>
              <a:t>Base64 / hex / URL-encoded / ROT13 decoded — and re-checked. Two-layer wraps unwound.</a:t>
            </a:r>
            <a:endParaRPr lang="en-US" sz="1050" dirty="0"/>
          </a:p>
        </p:txBody>
      </p:sp>
      <p:sp>
        <p:nvSpPr>
          <p:cNvPr id="26" name="Shape 23"/>
          <p:cNvSpPr/>
          <p:nvPr/>
        </p:nvSpPr>
        <p:spPr>
          <a:xfrm>
            <a:off x="6080760" y="3502152"/>
            <a:ext cx="54864" cy="502920"/>
          </a:xfrm>
          <a:prstGeom prst="rect">
            <a:avLst/>
          </a:prstGeom>
          <a:solidFill>
            <a:srgbClr val="6F42C1"/>
          </a:solidFill>
          <a:ln/>
        </p:spPr>
      </p:sp>
      <p:sp>
        <p:nvSpPr>
          <p:cNvPr id="27" name="Text 24"/>
          <p:cNvSpPr/>
          <p:nvPr/>
        </p:nvSpPr>
        <p:spPr>
          <a:xfrm>
            <a:off x="6245352" y="3429000"/>
            <a:ext cx="5029200" cy="256032"/>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Display-order tricks</a:t>
            </a:r>
            <a:endParaRPr lang="en-US" sz="1300" dirty="0"/>
          </a:p>
        </p:txBody>
      </p:sp>
      <p:sp>
        <p:nvSpPr>
          <p:cNvPr id="28" name="Text 25"/>
          <p:cNvSpPr/>
          <p:nvPr/>
        </p:nvSpPr>
        <p:spPr>
          <a:xfrm>
            <a:off x="6245352" y="3666744"/>
            <a:ext cx="5029200" cy="384048"/>
          </a:xfrm>
          <a:prstGeom prst="rect">
            <a:avLst/>
          </a:prstGeom>
          <a:noFill/>
          <a:ln/>
        </p:spPr>
        <p:txBody>
          <a:bodyPr wrap="square" lIns="0" tIns="0" rIns="0" bIns="0" rtlCol="0" anchor="ctr"/>
          <a:lstStyle/>
          <a:p>
            <a:pPr indent="0" marL="0">
              <a:buNone/>
            </a:pPr>
            <a:r>
              <a:rPr lang="en-US" sz="1050" dirty="0">
                <a:solidFill>
                  <a:srgbClr val="4A4D57"/>
                </a:solidFill>
                <a:latin typeface="Calibri" pitchFamily="34" charset="0"/>
                <a:ea typeface="Calibri" pitchFamily="34" charset="-122"/>
                <a:cs typeface="Calibri" pitchFamily="34" charset="-120"/>
              </a:rPr>
              <a:t>Trojan-Source attacks that flip what humans read versus what the model parses.</a:t>
            </a:r>
            <a:endParaRPr lang="en-US" sz="1050" dirty="0"/>
          </a:p>
        </p:txBody>
      </p:sp>
      <p:sp>
        <p:nvSpPr>
          <p:cNvPr id="29" name="Shape 26"/>
          <p:cNvSpPr/>
          <p:nvPr/>
        </p:nvSpPr>
        <p:spPr>
          <a:xfrm>
            <a:off x="6080760" y="4160520"/>
            <a:ext cx="54864" cy="502920"/>
          </a:xfrm>
          <a:prstGeom prst="rect">
            <a:avLst/>
          </a:prstGeom>
          <a:solidFill>
            <a:srgbClr val="6F42C1"/>
          </a:solidFill>
          <a:ln/>
        </p:spPr>
      </p:sp>
      <p:sp>
        <p:nvSpPr>
          <p:cNvPr id="30" name="Text 27"/>
          <p:cNvSpPr/>
          <p:nvPr/>
        </p:nvSpPr>
        <p:spPr>
          <a:xfrm>
            <a:off x="6245352" y="4087368"/>
            <a:ext cx="5029200" cy="256032"/>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Deceptive links</a:t>
            </a:r>
            <a:endParaRPr lang="en-US" sz="1300" dirty="0"/>
          </a:p>
        </p:txBody>
      </p:sp>
      <p:sp>
        <p:nvSpPr>
          <p:cNvPr id="31" name="Text 28"/>
          <p:cNvSpPr/>
          <p:nvPr/>
        </p:nvSpPr>
        <p:spPr>
          <a:xfrm>
            <a:off x="6245352" y="4325112"/>
            <a:ext cx="5029200" cy="384048"/>
          </a:xfrm>
          <a:prstGeom prst="rect">
            <a:avLst/>
          </a:prstGeom>
          <a:noFill/>
          <a:ln/>
        </p:spPr>
        <p:txBody>
          <a:bodyPr wrap="square" lIns="0" tIns="0" rIns="0" bIns="0" rtlCol="0" anchor="ctr"/>
          <a:lstStyle/>
          <a:p>
            <a:pPr indent="0" marL="0">
              <a:buNone/>
            </a:pPr>
            <a:r>
              <a:rPr lang="en-US" sz="1050" dirty="0">
                <a:solidFill>
                  <a:srgbClr val="4A4D57"/>
                </a:solidFill>
                <a:latin typeface="Calibri" pitchFamily="34" charset="0"/>
                <a:ea typeface="Calibri" pitchFamily="34" charset="-122"/>
                <a:cs typeface="Calibri" pitchFamily="34" charset="-120"/>
              </a:rPr>
              <a:t>Mixed-alphabet domains, punycode, raw IPs, executable data: URIs, link shorteners.</a:t>
            </a:r>
            <a:endParaRPr lang="en-US" sz="1050" dirty="0"/>
          </a:p>
        </p:txBody>
      </p:sp>
      <p:sp>
        <p:nvSpPr>
          <p:cNvPr id="32" name="Shape 29"/>
          <p:cNvSpPr/>
          <p:nvPr/>
        </p:nvSpPr>
        <p:spPr>
          <a:xfrm>
            <a:off x="6080760" y="4818888"/>
            <a:ext cx="54864" cy="502920"/>
          </a:xfrm>
          <a:prstGeom prst="rect">
            <a:avLst/>
          </a:prstGeom>
          <a:solidFill>
            <a:srgbClr val="6F42C1"/>
          </a:solidFill>
          <a:ln/>
        </p:spPr>
      </p:sp>
      <p:sp>
        <p:nvSpPr>
          <p:cNvPr id="33" name="Text 30"/>
          <p:cNvSpPr/>
          <p:nvPr/>
        </p:nvSpPr>
        <p:spPr>
          <a:xfrm>
            <a:off x="6245352" y="4745736"/>
            <a:ext cx="5029200" cy="256032"/>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Code in unexpected places</a:t>
            </a:r>
            <a:endParaRPr lang="en-US" sz="1300" dirty="0"/>
          </a:p>
        </p:txBody>
      </p:sp>
      <p:sp>
        <p:nvSpPr>
          <p:cNvPr id="34" name="Text 31"/>
          <p:cNvSpPr/>
          <p:nvPr/>
        </p:nvSpPr>
        <p:spPr>
          <a:xfrm>
            <a:off x="6245352" y="4983480"/>
            <a:ext cx="5029200" cy="384048"/>
          </a:xfrm>
          <a:prstGeom prst="rect">
            <a:avLst/>
          </a:prstGeom>
          <a:noFill/>
          <a:ln/>
        </p:spPr>
        <p:txBody>
          <a:bodyPr wrap="square" lIns="0" tIns="0" rIns="0" bIns="0" rtlCol="0" anchor="ctr"/>
          <a:lstStyle/>
          <a:p>
            <a:pPr indent="0" marL="0">
              <a:buNone/>
            </a:pPr>
            <a:r>
              <a:rPr lang="en-US" sz="1050" dirty="0">
                <a:solidFill>
                  <a:srgbClr val="4A4D57"/>
                </a:solidFill>
                <a:latin typeface="Calibri" pitchFamily="34" charset="0"/>
                <a:ea typeface="Calibri" pitchFamily="34" charset="-122"/>
                <a:cs typeface="Calibri" pitchFamily="34" charset="-120"/>
              </a:rPr>
              <a:t>HTML / JS / SQL / template payloads inside OCR output or audio transcripts.</a:t>
            </a:r>
            <a:endParaRPr lang="en-US" sz="1050" dirty="0"/>
          </a:p>
        </p:txBody>
      </p:sp>
      <p:sp>
        <p:nvSpPr>
          <p:cNvPr id="35" name="Shape 32"/>
          <p:cNvSpPr/>
          <p:nvPr/>
        </p:nvSpPr>
        <p:spPr>
          <a:xfrm>
            <a:off x="6080760" y="5477256"/>
            <a:ext cx="54864" cy="502920"/>
          </a:xfrm>
          <a:prstGeom prst="rect">
            <a:avLst/>
          </a:prstGeom>
          <a:solidFill>
            <a:srgbClr val="6F42C1"/>
          </a:solidFill>
          <a:ln/>
        </p:spPr>
      </p:sp>
      <p:sp>
        <p:nvSpPr>
          <p:cNvPr id="36" name="Text 33"/>
          <p:cNvSpPr/>
          <p:nvPr/>
        </p:nvSpPr>
        <p:spPr>
          <a:xfrm>
            <a:off x="6245352" y="5404104"/>
            <a:ext cx="5029200" cy="256032"/>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A second opinion</a:t>
            </a:r>
            <a:endParaRPr lang="en-US" sz="1300" dirty="0"/>
          </a:p>
        </p:txBody>
      </p:sp>
      <p:sp>
        <p:nvSpPr>
          <p:cNvPr id="37" name="Text 34"/>
          <p:cNvSpPr/>
          <p:nvPr/>
        </p:nvSpPr>
        <p:spPr>
          <a:xfrm>
            <a:off x="6245352" y="5641848"/>
            <a:ext cx="5029200" cy="384048"/>
          </a:xfrm>
          <a:prstGeom prst="rect">
            <a:avLst/>
          </a:prstGeom>
          <a:noFill/>
          <a:ln/>
        </p:spPr>
        <p:txBody>
          <a:bodyPr wrap="square" lIns="0" tIns="0" rIns="0" bIns="0" rtlCol="0" anchor="ctr"/>
          <a:lstStyle/>
          <a:p>
            <a:pPr indent="0" marL="0">
              <a:buNone/>
            </a:pPr>
            <a:r>
              <a:rPr lang="en-US" sz="1050" dirty="0">
                <a:solidFill>
                  <a:srgbClr val="4A4D57"/>
                </a:solidFill>
                <a:latin typeface="Calibri" pitchFamily="34" charset="0"/>
                <a:ea typeface="Calibri" pitchFamily="34" charset="-122"/>
                <a:cs typeface="Calibri" pitchFamily="34" charset="-120"/>
              </a:rPr>
              <a:t>Optional AI classifier judges meaning, not exact words. Catches paraphrased attacks.</a:t>
            </a:r>
            <a:endParaRPr lang="en-US" sz="1050" dirty="0"/>
          </a:p>
        </p:txBody>
      </p:sp>
      <p:sp>
        <p:nvSpPr>
          <p:cNvPr id="38" name="Shape 35"/>
          <p:cNvSpPr/>
          <p:nvPr/>
        </p:nvSpPr>
        <p:spPr>
          <a:xfrm>
            <a:off x="502920" y="6446520"/>
            <a:ext cx="11185855" cy="0"/>
          </a:xfrm>
          <a:prstGeom prst="line">
            <a:avLst/>
          </a:prstGeom>
          <a:noFill/>
          <a:ln w="6350">
            <a:solidFill>
              <a:srgbClr val="DFE2EA"/>
            </a:solidFill>
            <a:prstDash val="solid"/>
          </a:ln>
        </p:spPr>
      </p:sp>
      <p:sp>
        <p:nvSpPr>
          <p:cNvPr id="39" name="Text 36"/>
          <p:cNvSpPr/>
          <p:nvPr/>
        </p:nvSpPr>
        <p:spPr>
          <a:xfrm>
            <a:off x="502920" y="6510528"/>
            <a:ext cx="7315200" cy="274320"/>
          </a:xfrm>
          <a:prstGeom prst="rect">
            <a:avLst/>
          </a:prstGeom>
          <a:noFill/>
          <a:ln/>
        </p:spPr>
        <p:txBody>
          <a:bodyPr wrap="square" lIns="0" tIns="0" rIns="0" bIns="0" rtlCol="0" anchor="ctr"/>
          <a:lstStyle/>
          <a:p>
            <a:pPr indent="0" marL="0">
              <a:buNone/>
            </a:pPr>
            <a:r>
              <a:rPr lang="en-US" sz="900" dirty="0">
                <a:solidFill>
                  <a:srgbClr val="7A7E8A"/>
                </a:solidFill>
                <a:latin typeface="Calibri" pitchFamily="34" charset="0"/>
                <a:ea typeface="Calibri" pitchFamily="34" charset="-122"/>
                <a:cs typeface="Calibri" pitchFamily="34" charset="-120"/>
              </a:rPr>
              <a:t>Trapdoor · Working architecture</a:t>
            </a:r>
            <a:endParaRPr lang="en-US" sz="900" dirty="0"/>
          </a:p>
        </p:txBody>
      </p:sp>
      <p:sp>
        <p:nvSpPr>
          <p:cNvPr id="40" name="Text 37"/>
          <p:cNvSpPr/>
          <p:nvPr/>
        </p:nvSpPr>
        <p:spPr>
          <a:xfrm>
            <a:off x="10637215" y="6510528"/>
            <a:ext cx="1051560" cy="274320"/>
          </a:xfrm>
          <a:prstGeom prst="rect">
            <a:avLst/>
          </a:prstGeom>
          <a:noFill/>
          <a:ln/>
        </p:spPr>
        <p:txBody>
          <a:bodyPr wrap="square" lIns="0" tIns="0" rIns="0" bIns="0" rtlCol="0" anchor="ctr"/>
          <a:lstStyle/>
          <a:p>
            <a:pPr algn="r" indent="0" marL="0">
              <a:buNone/>
            </a:pPr>
            <a:r>
              <a:rPr lang="en-US" sz="900" dirty="0">
                <a:solidFill>
                  <a:srgbClr val="7A7E8A"/>
                </a:solidFill>
                <a:latin typeface="Calibri" pitchFamily="34" charset="0"/>
                <a:ea typeface="Calibri" pitchFamily="34" charset="-122"/>
                <a:cs typeface="Calibri" pitchFamily="34" charset="-120"/>
              </a:rPr>
              <a:t>5 / 12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5F9"/>
        </a:solidFill>
      </p:bgPr>
    </p:bg>
    <p:spTree>
      <p:nvGrpSpPr>
        <p:cNvPr id="1" name=""/>
        <p:cNvGrpSpPr/>
        <p:nvPr/>
      </p:nvGrpSpPr>
      <p:grpSpPr>
        <a:xfrm>
          <a:off x="0" y="0"/>
          <a:ext cx="0" cy="0"/>
          <a:chOff x="0" y="0"/>
          <a:chExt cx="0" cy="0"/>
        </a:xfrm>
      </p:grpSpPr>
      <p:sp>
        <p:nvSpPr>
          <p:cNvPr id="2" name="Shape 0"/>
          <p:cNvSpPr/>
          <p:nvPr/>
        </p:nvSpPr>
        <p:spPr>
          <a:xfrm>
            <a:off x="502920" y="868680"/>
            <a:ext cx="201168" cy="292608"/>
          </a:xfrm>
          <a:prstGeom prst="rect">
            <a:avLst/>
          </a:prstGeom>
          <a:solidFill>
            <a:srgbClr val="E40029"/>
          </a:solidFill>
          <a:ln/>
        </p:spPr>
      </p:sp>
      <p:sp>
        <p:nvSpPr>
          <p:cNvPr id="3" name="Text 1"/>
          <p:cNvSpPr/>
          <p:nvPr/>
        </p:nvSpPr>
        <p:spPr>
          <a:xfrm>
            <a:off x="822960" y="850392"/>
            <a:ext cx="6858000" cy="329184"/>
          </a:xfrm>
          <a:prstGeom prst="rect">
            <a:avLst/>
          </a:prstGeom>
          <a:noFill/>
          <a:ln/>
        </p:spPr>
        <p:txBody>
          <a:bodyPr wrap="square" lIns="0" tIns="0" rIns="0" bIns="0" rtlCol="0" anchor="ctr"/>
          <a:lstStyle/>
          <a:p>
            <a:pPr indent="0" marL="0">
              <a:buNone/>
            </a:pPr>
            <a:r>
              <a:rPr lang="en-US" sz="1100" b="1" spc="400" kern="0" dirty="0">
                <a:solidFill>
                  <a:srgbClr val="E40029"/>
                </a:solidFill>
                <a:latin typeface="Calibri" pitchFamily="34" charset="0"/>
                <a:ea typeface="Calibri" pitchFamily="34" charset="-122"/>
                <a:cs typeface="Calibri" pitchFamily="34" charset="-120"/>
              </a:rPr>
              <a:t>STAGE 2 · WHY TEN</a:t>
            </a:r>
            <a:endParaRPr lang="en-US" sz="1100" dirty="0"/>
          </a:p>
        </p:txBody>
      </p:sp>
      <p:sp>
        <p:nvSpPr>
          <p:cNvPr id="4" name="Text 2"/>
          <p:cNvSpPr/>
          <p:nvPr/>
        </p:nvSpPr>
        <p:spPr>
          <a:xfrm>
            <a:off x="502920" y="1243584"/>
            <a:ext cx="11185855" cy="777240"/>
          </a:xfrm>
          <a:prstGeom prst="rect">
            <a:avLst/>
          </a:prstGeom>
          <a:noFill/>
          <a:ln/>
        </p:spPr>
        <p:txBody>
          <a:bodyPr wrap="square" lIns="0" tIns="0" rIns="0" bIns="0" rtlCol="0" anchor="t"/>
          <a:lstStyle/>
          <a:p>
            <a:pPr algn="l" indent="0" marL="0">
              <a:buNone/>
            </a:pPr>
            <a:r>
              <a:rPr lang="en-US" sz="3400" b="1" dirty="0">
                <a:solidFill>
                  <a:srgbClr val="1A1A1A"/>
                </a:solidFill>
                <a:latin typeface="Calibri" pitchFamily="34" charset="0"/>
                <a:ea typeface="Calibri" pitchFamily="34" charset="-122"/>
                <a:cs typeface="Calibri" pitchFamily="34" charset="-120"/>
              </a:rPr>
              <a:t>Different attacks. Different fingerprints.</a:t>
            </a:r>
            <a:endParaRPr lang="en-US" sz="3400" dirty="0"/>
          </a:p>
        </p:txBody>
      </p:sp>
      <p:sp>
        <p:nvSpPr>
          <p:cNvPr id="5" name="Text 3"/>
          <p:cNvSpPr/>
          <p:nvPr/>
        </p:nvSpPr>
        <p:spPr>
          <a:xfrm>
            <a:off x="502920" y="1993392"/>
            <a:ext cx="11185855" cy="411480"/>
          </a:xfrm>
          <a:prstGeom prst="rect">
            <a:avLst/>
          </a:prstGeom>
          <a:noFill/>
          <a:ln/>
        </p:spPr>
        <p:txBody>
          <a:bodyPr wrap="square" lIns="0" tIns="0" rIns="0" bIns="0" rtlCol="0" anchor="ctr"/>
          <a:lstStyle/>
          <a:p>
            <a:pPr indent="0" marL="0">
              <a:buNone/>
            </a:pPr>
            <a:r>
              <a:rPr lang="en-US" sz="1400" dirty="0">
                <a:solidFill>
                  <a:srgbClr val="4A4D57"/>
                </a:solidFill>
                <a:latin typeface="Calibri" pitchFamily="34" charset="0"/>
                <a:ea typeface="Calibri" pitchFamily="34" charset="-122"/>
                <a:cs typeface="Calibri" pitchFamily="34" charset="-120"/>
              </a:rPr>
              <a:t>No single test catches everything. Together they form a net.</a:t>
            </a:r>
            <a:endParaRPr lang="en-US" sz="1400" dirty="0"/>
          </a:p>
        </p:txBody>
      </p:sp>
      <p:sp>
        <p:nvSpPr>
          <p:cNvPr id="6" name="Shape 4"/>
          <p:cNvSpPr/>
          <p:nvPr/>
        </p:nvSpPr>
        <p:spPr>
          <a:xfrm>
            <a:off x="502920" y="2542032"/>
            <a:ext cx="11185855" cy="0"/>
          </a:xfrm>
          <a:prstGeom prst="line">
            <a:avLst/>
          </a:prstGeom>
          <a:noFill/>
          <a:ln w="9525">
            <a:solidFill>
              <a:srgbClr val="DFE2EA"/>
            </a:solidFill>
            <a:prstDash val="solid"/>
          </a:ln>
        </p:spPr>
      </p:sp>
      <p:pic>
        <p:nvPicPr>
          <p:cNvPr id="7" name="Image 0" descr="assets/tech-mahindra-logo.png">    </p:cNvPr>
          <p:cNvPicPr>
            <a:picLocks noChangeAspect="1"/>
          </p:cNvPicPr>
          <p:nvPr/>
        </p:nvPicPr>
        <p:blipFill>
          <a:blip r:embed="rId1"/>
          <a:stretch>
            <a:fillRect/>
          </a:stretch>
        </p:blipFill>
        <p:spPr>
          <a:xfrm>
            <a:off x="10183952" y="384048"/>
            <a:ext cx="1504824" cy="411480"/>
          </a:xfrm>
          <a:prstGeom prst="rect">
            <a:avLst/>
          </a:prstGeom>
        </p:spPr>
      </p:pic>
      <p:sp>
        <p:nvSpPr>
          <p:cNvPr id="8" name="Shape 5"/>
          <p:cNvSpPr/>
          <p:nvPr/>
        </p:nvSpPr>
        <p:spPr>
          <a:xfrm>
            <a:off x="502920" y="2834640"/>
            <a:ext cx="2054291" cy="1371600"/>
          </a:xfrm>
          <a:prstGeom prst="roundRect">
            <a:avLst>
              <a:gd name="adj" fmla="val 8000"/>
            </a:avLst>
          </a:prstGeom>
          <a:solidFill>
            <a:srgbClr val="FFFFFF"/>
          </a:solidFill>
          <a:ln w="7620">
            <a:solidFill>
              <a:srgbClr val="DFE2EA"/>
            </a:solidFill>
            <a:prstDash val="solid"/>
          </a:ln>
          <a:effectLst>
            <a:outerShdw sx="100000" sy="100000" kx="0" ky="0" algn="bl" rotWithShape="0" blurRad="177800" dist="38100" dir="8100000">
              <a:srgbClr val="000000">
                <a:alpha val="10000"/>
              </a:srgbClr>
            </a:outerShdw>
          </a:effectLst>
        </p:spPr>
      </p:sp>
      <p:sp>
        <p:nvSpPr>
          <p:cNvPr id="9" name="Shape 6"/>
          <p:cNvSpPr/>
          <p:nvPr/>
        </p:nvSpPr>
        <p:spPr>
          <a:xfrm>
            <a:off x="502920" y="2834640"/>
            <a:ext cx="2054291" cy="91440"/>
          </a:xfrm>
          <a:prstGeom prst="rect">
            <a:avLst/>
          </a:prstGeom>
          <a:solidFill>
            <a:srgbClr val="6F42C1"/>
          </a:solidFill>
          <a:ln/>
        </p:spPr>
      </p:sp>
      <p:sp>
        <p:nvSpPr>
          <p:cNvPr id="10" name="Text 7"/>
          <p:cNvSpPr/>
          <p:nvPr/>
        </p:nvSpPr>
        <p:spPr>
          <a:xfrm>
            <a:off x="685800" y="3063240"/>
            <a:ext cx="1688531" cy="411480"/>
          </a:xfrm>
          <a:prstGeom prst="rect">
            <a:avLst/>
          </a:prstGeom>
          <a:noFill/>
          <a:ln/>
        </p:spPr>
        <p:txBody>
          <a:bodyPr wrap="square" lIns="0" tIns="0" rIns="0" bIns="0"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Vocabulary</a:t>
            </a:r>
            <a:endParaRPr lang="en-US" sz="1600" dirty="0"/>
          </a:p>
        </p:txBody>
      </p:sp>
      <p:sp>
        <p:nvSpPr>
          <p:cNvPr id="11" name="Text 8"/>
          <p:cNvSpPr/>
          <p:nvPr/>
        </p:nvSpPr>
        <p:spPr>
          <a:xfrm>
            <a:off x="685800" y="3520440"/>
            <a:ext cx="1688531" cy="594360"/>
          </a:xfrm>
          <a:prstGeom prst="rect">
            <a:avLst/>
          </a:prstGeom>
          <a:noFill/>
          <a:ln/>
        </p:spPr>
        <p:txBody>
          <a:bodyPr wrap="square" lIns="0" tIns="0" rIns="0" bIns="0" rtlCol="0" anchor="ctr"/>
          <a:lstStyle/>
          <a:p>
            <a:pPr indent="0" marL="0">
              <a:buNone/>
            </a:pPr>
            <a:r>
              <a:rPr lang="en-US" sz="1100" i="1" dirty="0">
                <a:solidFill>
                  <a:srgbClr val="4A4D57"/>
                </a:solidFill>
                <a:latin typeface="Calibri" pitchFamily="34" charset="0"/>
                <a:ea typeface="Calibri" pitchFamily="34" charset="-122"/>
                <a:cs typeface="Calibri" pitchFamily="34" charset="-120"/>
              </a:rPr>
              <a:t>The literal words</a:t>
            </a:r>
            <a:endParaRPr lang="en-US" sz="1100" dirty="0"/>
          </a:p>
        </p:txBody>
      </p:sp>
      <p:sp>
        <p:nvSpPr>
          <p:cNvPr id="12" name="Shape 9"/>
          <p:cNvSpPr/>
          <p:nvPr/>
        </p:nvSpPr>
        <p:spPr>
          <a:xfrm>
            <a:off x="2785811" y="2834640"/>
            <a:ext cx="2054291" cy="1371600"/>
          </a:xfrm>
          <a:prstGeom prst="roundRect">
            <a:avLst>
              <a:gd name="adj" fmla="val 8000"/>
            </a:avLst>
          </a:prstGeom>
          <a:solidFill>
            <a:srgbClr val="FFFFFF"/>
          </a:solidFill>
          <a:ln w="7620">
            <a:solidFill>
              <a:srgbClr val="DFE2EA"/>
            </a:solidFill>
            <a:prstDash val="solid"/>
          </a:ln>
          <a:effectLst>
            <a:outerShdw sx="100000" sy="100000" kx="0" ky="0" algn="bl" rotWithShape="0" blurRad="177800" dist="38100" dir="8100000">
              <a:srgbClr val="000000">
                <a:alpha val="10000"/>
              </a:srgbClr>
            </a:outerShdw>
          </a:effectLst>
        </p:spPr>
      </p:sp>
      <p:sp>
        <p:nvSpPr>
          <p:cNvPr id="13" name="Shape 10"/>
          <p:cNvSpPr/>
          <p:nvPr/>
        </p:nvSpPr>
        <p:spPr>
          <a:xfrm>
            <a:off x="2785811" y="2834640"/>
            <a:ext cx="2054291" cy="91440"/>
          </a:xfrm>
          <a:prstGeom prst="rect">
            <a:avLst/>
          </a:prstGeom>
          <a:solidFill>
            <a:srgbClr val="6F42C1"/>
          </a:solidFill>
          <a:ln/>
        </p:spPr>
      </p:sp>
      <p:sp>
        <p:nvSpPr>
          <p:cNvPr id="14" name="Text 11"/>
          <p:cNvSpPr/>
          <p:nvPr/>
        </p:nvSpPr>
        <p:spPr>
          <a:xfrm>
            <a:off x="2968691" y="3063240"/>
            <a:ext cx="1688531" cy="411480"/>
          </a:xfrm>
          <a:prstGeom prst="rect">
            <a:avLst/>
          </a:prstGeom>
          <a:noFill/>
          <a:ln/>
        </p:spPr>
        <p:txBody>
          <a:bodyPr wrap="square" lIns="0" tIns="0" rIns="0" bIns="0"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Codepoints</a:t>
            </a:r>
            <a:endParaRPr lang="en-US" sz="1600" dirty="0"/>
          </a:p>
        </p:txBody>
      </p:sp>
      <p:sp>
        <p:nvSpPr>
          <p:cNvPr id="15" name="Text 12"/>
          <p:cNvSpPr/>
          <p:nvPr/>
        </p:nvSpPr>
        <p:spPr>
          <a:xfrm>
            <a:off x="2968691" y="3520440"/>
            <a:ext cx="1688531" cy="594360"/>
          </a:xfrm>
          <a:prstGeom prst="rect">
            <a:avLst/>
          </a:prstGeom>
          <a:noFill/>
          <a:ln/>
        </p:spPr>
        <p:txBody>
          <a:bodyPr wrap="square" lIns="0" tIns="0" rIns="0" bIns="0" rtlCol="0" anchor="ctr"/>
          <a:lstStyle/>
          <a:p>
            <a:pPr indent="0" marL="0">
              <a:buNone/>
            </a:pPr>
            <a:r>
              <a:rPr lang="en-US" sz="1100" i="1" dirty="0">
                <a:solidFill>
                  <a:srgbClr val="4A4D57"/>
                </a:solidFill>
                <a:latin typeface="Calibri" pitchFamily="34" charset="0"/>
                <a:ea typeface="Calibri" pitchFamily="34" charset="-122"/>
                <a:cs typeface="Calibri" pitchFamily="34" charset="-120"/>
              </a:rPr>
              <a:t>Invisible / look-alike characters</a:t>
            </a:r>
            <a:endParaRPr lang="en-US" sz="1100" dirty="0"/>
          </a:p>
        </p:txBody>
      </p:sp>
      <p:sp>
        <p:nvSpPr>
          <p:cNvPr id="16" name="Shape 13"/>
          <p:cNvSpPr/>
          <p:nvPr/>
        </p:nvSpPr>
        <p:spPr>
          <a:xfrm>
            <a:off x="5068702" y="2834640"/>
            <a:ext cx="2054291" cy="1371600"/>
          </a:xfrm>
          <a:prstGeom prst="roundRect">
            <a:avLst>
              <a:gd name="adj" fmla="val 8000"/>
            </a:avLst>
          </a:prstGeom>
          <a:solidFill>
            <a:srgbClr val="FFFFFF"/>
          </a:solidFill>
          <a:ln w="7620">
            <a:solidFill>
              <a:srgbClr val="DFE2EA"/>
            </a:solidFill>
            <a:prstDash val="solid"/>
          </a:ln>
          <a:effectLst>
            <a:outerShdw sx="100000" sy="100000" kx="0" ky="0" algn="bl" rotWithShape="0" blurRad="177800" dist="38100" dir="8100000">
              <a:srgbClr val="000000">
                <a:alpha val="10000"/>
              </a:srgbClr>
            </a:outerShdw>
          </a:effectLst>
        </p:spPr>
      </p:sp>
      <p:sp>
        <p:nvSpPr>
          <p:cNvPr id="17" name="Shape 14"/>
          <p:cNvSpPr/>
          <p:nvPr/>
        </p:nvSpPr>
        <p:spPr>
          <a:xfrm>
            <a:off x="5068702" y="2834640"/>
            <a:ext cx="2054291" cy="91440"/>
          </a:xfrm>
          <a:prstGeom prst="rect">
            <a:avLst/>
          </a:prstGeom>
          <a:solidFill>
            <a:srgbClr val="6F42C1"/>
          </a:solidFill>
          <a:ln/>
        </p:spPr>
      </p:sp>
      <p:sp>
        <p:nvSpPr>
          <p:cNvPr id="18" name="Text 15"/>
          <p:cNvSpPr/>
          <p:nvPr/>
        </p:nvSpPr>
        <p:spPr>
          <a:xfrm>
            <a:off x="5251582" y="3063240"/>
            <a:ext cx="1688531" cy="411480"/>
          </a:xfrm>
          <a:prstGeom prst="rect">
            <a:avLst/>
          </a:prstGeom>
          <a:noFill/>
          <a:ln/>
        </p:spPr>
        <p:txBody>
          <a:bodyPr wrap="square" lIns="0" tIns="0" rIns="0" bIns="0"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Visibility</a:t>
            </a:r>
            <a:endParaRPr lang="en-US" sz="1600" dirty="0"/>
          </a:p>
        </p:txBody>
      </p:sp>
      <p:sp>
        <p:nvSpPr>
          <p:cNvPr id="19" name="Text 16"/>
          <p:cNvSpPr/>
          <p:nvPr/>
        </p:nvSpPr>
        <p:spPr>
          <a:xfrm>
            <a:off x="5251582" y="3520440"/>
            <a:ext cx="1688531" cy="594360"/>
          </a:xfrm>
          <a:prstGeom prst="rect">
            <a:avLst/>
          </a:prstGeom>
          <a:noFill/>
          <a:ln/>
        </p:spPr>
        <p:txBody>
          <a:bodyPr wrap="square" lIns="0" tIns="0" rIns="0" bIns="0" rtlCol="0" anchor="ctr"/>
          <a:lstStyle/>
          <a:p>
            <a:pPr indent="0" marL="0">
              <a:buNone/>
            </a:pPr>
            <a:r>
              <a:rPr lang="en-US" sz="1100" i="1" dirty="0">
                <a:solidFill>
                  <a:srgbClr val="4A4D57"/>
                </a:solidFill>
                <a:latin typeface="Calibri" pitchFamily="34" charset="0"/>
                <a:ea typeface="Calibri" pitchFamily="34" charset="-122"/>
                <a:cs typeface="Calibri" pitchFamily="34" charset="-120"/>
              </a:rPr>
              <a:t>Rendered in white ink</a:t>
            </a:r>
            <a:endParaRPr lang="en-US" sz="1100" dirty="0"/>
          </a:p>
        </p:txBody>
      </p:sp>
      <p:sp>
        <p:nvSpPr>
          <p:cNvPr id="20" name="Shape 17"/>
          <p:cNvSpPr/>
          <p:nvPr/>
        </p:nvSpPr>
        <p:spPr>
          <a:xfrm>
            <a:off x="7351593" y="2834640"/>
            <a:ext cx="2054291" cy="1371600"/>
          </a:xfrm>
          <a:prstGeom prst="roundRect">
            <a:avLst>
              <a:gd name="adj" fmla="val 8000"/>
            </a:avLst>
          </a:prstGeom>
          <a:solidFill>
            <a:srgbClr val="FFFFFF"/>
          </a:solidFill>
          <a:ln w="7620">
            <a:solidFill>
              <a:srgbClr val="DFE2EA"/>
            </a:solidFill>
            <a:prstDash val="solid"/>
          </a:ln>
          <a:effectLst>
            <a:outerShdw sx="100000" sy="100000" kx="0" ky="0" algn="bl" rotWithShape="0" blurRad="177800" dist="38100" dir="8100000">
              <a:srgbClr val="000000">
                <a:alpha val="10000"/>
              </a:srgbClr>
            </a:outerShdw>
          </a:effectLst>
        </p:spPr>
      </p:sp>
      <p:sp>
        <p:nvSpPr>
          <p:cNvPr id="21" name="Shape 18"/>
          <p:cNvSpPr/>
          <p:nvPr/>
        </p:nvSpPr>
        <p:spPr>
          <a:xfrm>
            <a:off x="7351593" y="2834640"/>
            <a:ext cx="2054291" cy="91440"/>
          </a:xfrm>
          <a:prstGeom prst="rect">
            <a:avLst/>
          </a:prstGeom>
          <a:solidFill>
            <a:srgbClr val="6F42C1"/>
          </a:solidFill>
          <a:ln/>
        </p:spPr>
      </p:sp>
      <p:sp>
        <p:nvSpPr>
          <p:cNvPr id="22" name="Text 19"/>
          <p:cNvSpPr/>
          <p:nvPr/>
        </p:nvSpPr>
        <p:spPr>
          <a:xfrm>
            <a:off x="7534473" y="3063240"/>
            <a:ext cx="1688531" cy="411480"/>
          </a:xfrm>
          <a:prstGeom prst="rect">
            <a:avLst/>
          </a:prstGeom>
          <a:noFill/>
          <a:ln/>
        </p:spPr>
        <p:txBody>
          <a:bodyPr wrap="square" lIns="0" tIns="0" rIns="0" bIns="0"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Placement</a:t>
            </a:r>
            <a:endParaRPr lang="en-US" sz="1600" dirty="0"/>
          </a:p>
        </p:txBody>
      </p:sp>
      <p:sp>
        <p:nvSpPr>
          <p:cNvPr id="23" name="Text 20"/>
          <p:cNvSpPr/>
          <p:nvPr/>
        </p:nvSpPr>
        <p:spPr>
          <a:xfrm>
            <a:off x="7534473" y="3520440"/>
            <a:ext cx="1688531" cy="594360"/>
          </a:xfrm>
          <a:prstGeom prst="rect">
            <a:avLst/>
          </a:prstGeom>
          <a:noFill/>
          <a:ln/>
        </p:spPr>
        <p:txBody>
          <a:bodyPr wrap="square" lIns="0" tIns="0" rIns="0" bIns="0" rtlCol="0" anchor="ctr"/>
          <a:lstStyle/>
          <a:p>
            <a:pPr indent="0" marL="0">
              <a:buNone/>
            </a:pPr>
            <a:r>
              <a:rPr lang="en-US" sz="1100" i="1" dirty="0">
                <a:solidFill>
                  <a:srgbClr val="4A4D57"/>
                </a:solidFill>
                <a:latin typeface="Calibri" pitchFamily="34" charset="0"/>
                <a:ea typeface="Calibri" pitchFamily="34" charset="-122"/>
                <a:cs typeface="Calibri" pitchFamily="34" charset="-120"/>
              </a:rPr>
              <a:t>Inside metadata, comments</a:t>
            </a:r>
            <a:endParaRPr lang="en-US" sz="1100" dirty="0"/>
          </a:p>
        </p:txBody>
      </p:sp>
      <p:sp>
        <p:nvSpPr>
          <p:cNvPr id="24" name="Shape 21"/>
          <p:cNvSpPr/>
          <p:nvPr/>
        </p:nvSpPr>
        <p:spPr>
          <a:xfrm>
            <a:off x="9634484" y="2834640"/>
            <a:ext cx="2054291" cy="1371600"/>
          </a:xfrm>
          <a:prstGeom prst="roundRect">
            <a:avLst>
              <a:gd name="adj" fmla="val 8000"/>
            </a:avLst>
          </a:prstGeom>
          <a:solidFill>
            <a:srgbClr val="FFFFFF"/>
          </a:solidFill>
          <a:ln w="7620">
            <a:solidFill>
              <a:srgbClr val="DFE2EA"/>
            </a:solidFill>
            <a:prstDash val="solid"/>
          </a:ln>
          <a:effectLst>
            <a:outerShdw sx="100000" sy="100000" kx="0" ky="0" algn="bl" rotWithShape="0" blurRad="177800" dist="38100" dir="8100000">
              <a:srgbClr val="000000">
                <a:alpha val="10000"/>
              </a:srgbClr>
            </a:outerShdw>
          </a:effectLst>
        </p:spPr>
      </p:sp>
      <p:sp>
        <p:nvSpPr>
          <p:cNvPr id="25" name="Shape 22"/>
          <p:cNvSpPr/>
          <p:nvPr/>
        </p:nvSpPr>
        <p:spPr>
          <a:xfrm>
            <a:off x="9634484" y="2834640"/>
            <a:ext cx="2054291" cy="91440"/>
          </a:xfrm>
          <a:prstGeom prst="rect">
            <a:avLst/>
          </a:prstGeom>
          <a:solidFill>
            <a:srgbClr val="6F42C1"/>
          </a:solidFill>
          <a:ln/>
        </p:spPr>
      </p:sp>
      <p:sp>
        <p:nvSpPr>
          <p:cNvPr id="26" name="Text 23"/>
          <p:cNvSpPr/>
          <p:nvPr/>
        </p:nvSpPr>
        <p:spPr>
          <a:xfrm>
            <a:off x="9817364" y="3063240"/>
            <a:ext cx="1688531" cy="411480"/>
          </a:xfrm>
          <a:prstGeom prst="rect">
            <a:avLst/>
          </a:prstGeom>
          <a:noFill/>
          <a:ln/>
        </p:spPr>
        <p:txBody>
          <a:bodyPr wrap="square" lIns="0" tIns="0" rIns="0" bIns="0"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Pixel encoding</a:t>
            </a:r>
            <a:endParaRPr lang="en-US" sz="1600" dirty="0"/>
          </a:p>
        </p:txBody>
      </p:sp>
      <p:sp>
        <p:nvSpPr>
          <p:cNvPr id="27" name="Text 24"/>
          <p:cNvSpPr/>
          <p:nvPr/>
        </p:nvSpPr>
        <p:spPr>
          <a:xfrm>
            <a:off x="9817364" y="3520440"/>
            <a:ext cx="1688531" cy="594360"/>
          </a:xfrm>
          <a:prstGeom prst="rect">
            <a:avLst/>
          </a:prstGeom>
          <a:noFill/>
          <a:ln/>
        </p:spPr>
        <p:txBody>
          <a:bodyPr wrap="square" lIns="0" tIns="0" rIns="0" bIns="0" rtlCol="0" anchor="ctr"/>
          <a:lstStyle/>
          <a:p>
            <a:pPr indent="0" marL="0">
              <a:buNone/>
            </a:pPr>
            <a:r>
              <a:rPr lang="en-US" sz="1100" i="1" dirty="0">
                <a:solidFill>
                  <a:srgbClr val="4A4D57"/>
                </a:solidFill>
                <a:latin typeface="Calibri" pitchFamily="34" charset="0"/>
                <a:ea typeface="Calibri" pitchFamily="34" charset="-122"/>
                <a:cs typeface="Calibri" pitchFamily="34" charset="-120"/>
              </a:rPr>
              <a:t>Hidden in image bits</a:t>
            </a:r>
            <a:endParaRPr lang="en-US" sz="1100" dirty="0"/>
          </a:p>
        </p:txBody>
      </p:sp>
      <p:sp>
        <p:nvSpPr>
          <p:cNvPr id="28" name="Shape 25"/>
          <p:cNvSpPr/>
          <p:nvPr/>
        </p:nvSpPr>
        <p:spPr>
          <a:xfrm>
            <a:off x="502920" y="4480560"/>
            <a:ext cx="2054291" cy="1371600"/>
          </a:xfrm>
          <a:prstGeom prst="roundRect">
            <a:avLst>
              <a:gd name="adj" fmla="val 8000"/>
            </a:avLst>
          </a:prstGeom>
          <a:solidFill>
            <a:srgbClr val="FFFFFF"/>
          </a:solidFill>
          <a:ln w="7620">
            <a:solidFill>
              <a:srgbClr val="DFE2EA"/>
            </a:solidFill>
            <a:prstDash val="solid"/>
          </a:ln>
          <a:effectLst>
            <a:outerShdw sx="100000" sy="100000" kx="0" ky="0" algn="bl" rotWithShape="0" blurRad="177800" dist="38100" dir="8100000">
              <a:srgbClr val="000000">
                <a:alpha val="10000"/>
              </a:srgbClr>
            </a:outerShdw>
          </a:effectLst>
        </p:spPr>
      </p:sp>
      <p:sp>
        <p:nvSpPr>
          <p:cNvPr id="29" name="Shape 26"/>
          <p:cNvSpPr/>
          <p:nvPr/>
        </p:nvSpPr>
        <p:spPr>
          <a:xfrm>
            <a:off x="502920" y="4480560"/>
            <a:ext cx="2054291" cy="91440"/>
          </a:xfrm>
          <a:prstGeom prst="rect">
            <a:avLst/>
          </a:prstGeom>
          <a:solidFill>
            <a:srgbClr val="6F42C1"/>
          </a:solidFill>
          <a:ln/>
        </p:spPr>
      </p:sp>
      <p:sp>
        <p:nvSpPr>
          <p:cNvPr id="30" name="Text 27"/>
          <p:cNvSpPr/>
          <p:nvPr/>
        </p:nvSpPr>
        <p:spPr>
          <a:xfrm>
            <a:off x="685800" y="4709160"/>
            <a:ext cx="1688531" cy="411480"/>
          </a:xfrm>
          <a:prstGeom prst="rect">
            <a:avLst/>
          </a:prstGeom>
          <a:noFill/>
          <a:ln/>
        </p:spPr>
        <p:txBody>
          <a:bodyPr wrap="square" lIns="0" tIns="0" rIns="0" bIns="0"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Text encoding</a:t>
            </a:r>
            <a:endParaRPr lang="en-US" sz="1600" dirty="0"/>
          </a:p>
        </p:txBody>
      </p:sp>
      <p:sp>
        <p:nvSpPr>
          <p:cNvPr id="31" name="Text 28"/>
          <p:cNvSpPr/>
          <p:nvPr/>
        </p:nvSpPr>
        <p:spPr>
          <a:xfrm>
            <a:off x="685800" y="5166360"/>
            <a:ext cx="1688531" cy="594360"/>
          </a:xfrm>
          <a:prstGeom prst="rect">
            <a:avLst/>
          </a:prstGeom>
          <a:noFill/>
          <a:ln/>
        </p:spPr>
        <p:txBody>
          <a:bodyPr wrap="square" lIns="0" tIns="0" rIns="0" bIns="0" rtlCol="0" anchor="ctr"/>
          <a:lstStyle/>
          <a:p>
            <a:pPr indent="0" marL="0">
              <a:buNone/>
            </a:pPr>
            <a:r>
              <a:rPr lang="en-US" sz="1100" i="1" dirty="0">
                <a:solidFill>
                  <a:srgbClr val="4A4D57"/>
                </a:solidFill>
                <a:latin typeface="Calibri" pitchFamily="34" charset="0"/>
                <a:ea typeface="Calibri" pitchFamily="34" charset="-122"/>
                <a:cs typeface="Calibri" pitchFamily="34" charset="-120"/>
              </a:rPr>
              <a:t>Base64 / hex / ROT13</a:t>
            </a:r>
            <a:endParaRPr lang="en-US" sz="1100" dirty="0"/>
          </a:p>
        </p:txBody>
      </p:sp>
      <p:sp>
        <p:nvSpPr>
          <p:cNvPr id="32" name="Shape 29"/>
          <p:cNvSpPr/>
          <p:nvPr/>
        </p:nvSpPr>
        <p:spPr>
          <a:xfrm>
            <a:off x="2785811" y="4480560"/>
            <a:ext cx="2054291" cy="1371600"/>
          </a:xfrm>
          <a:prstGeom prst="roundRect">
            <a:avLst>
              <a:gd name="adj" fmla="val 8000"/>
            </a:avLst>
          </a:prstGeom>
          <a:solidFill>
            <a:srgbClr val="FFFFFF"/>
          </a:solidFill>
          <a:ln w="7620">
            <a:solidFill>
              <a:srgbClr val="DFE2EA"/>
            </a:solidFill>
            <a:prstDash val="solid"/>
          </a:ln>
          <a:effectLst>
            <a:outerShdw sx="100000" sy="100000" kx="0" ky="0" algn="bl" rotWithShape="0" blurRad="177800" dist="38100" dir="8100000">
              <a:srgbClr val="000000">
                <a:alpha val="10000"/>
              </a:srgbClr>
            </a:outerShdw>
          </a:effectLst>
        </p:spPr>
      </p:sp>
      <p:sp>
        <p:nvSpPr>
          <p:cNvPr id="33" name="Shape 30"/>
          <p:cNvSpPr/>
          <p:nvPr/>
        </p:nvSpPr>
        <p:spPr>
          <a:xfrm>
            <a:off x="2785811" y="4480560"/>
            <a:ext cx="2054291" cy="91440"/>
          </a:xfrm>
          <a:prstGeom prst="rect">
            <a:avLst/>
          </a:prstGeom>
          <a:solidFill>
            <a:srgbClr val="6F42C1"/>
          </a:solidFill>
          <a:ln/>
        </p:spPr>
      </p:sp>
      <p:sp>
        <p:nvSpPr>
          <p:cNvPr id="34" name="Text 31"/>
          <p:cNvSpPr/>
          <p:nvPr/>
        </p:nvSpPr>
        <p:spPr>
          <a:xfrm>
            <a:off x="2968691" y="4709160"/>
            <a:ext cx="1688531" cy="411480"/>
          </a:xfrm>
          <a:prstGeom prst="rect">
            <a:avLst/>
          </a:prstGeom>
          <a:noFill/>
          <a:ln/>
        </p:spPr>
        <p:txBody>
          <a:bodyPr wrap="square" lIns="0" tIns="0" rIns="0" bIns="0"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Display order</a:t>
            </a:r>
            <a:endParaRPr lang="en-US" sz="1600" dirty="0"/>
          </a:p>
        </p:txBody>
      </p:sp>
      <p:sp>
        <p:nvSpPr>
          <p:cNvPr id="35" name="Text 32"/>
          <p:cNvSpPr/>
          <p:nvPr/>
        </p:nvSpPr>
        <p:spPr>
          <a:xfrm>
            <a:off x="2968691" y="5166360"/>
            <a:ext cx="1688531" cy="594360"/>
          </a:xfrm>
          <a:prstGeom prst="rect">
            <a:avLst/>
          </a:prstGeom>
          <a:noFill/>
          <a:ln/>
        </p:spPr>
        <p:txBody>
          <a:bodyPr wrap="square" lIns="0" tIns="0" rIns="0" bIns="0" rtlCol="0" anchor="ctr"/>
          <a:lstStyle/>
          <a:p>
            <a:pPr indent="0" marL="0">
              <a:buNone/>
            </a:pPr>
            <a:r>
              <a:rPr lang="en-US" sz="1100" i="1" dirty="0">
                <a:solidFill>
                  <a:srgbClr val="4A4D57"/>
                </a:solidFill>
                <a:latin typeface="Calibri" pitchFamily="34" charset="0"/>
                <a:ea typeface="Calibri" pitchFamily="34" charset="-122"/>
                <a:cs typeface="Calibri" pitchFamily="34" charset="-120"/>
              </a:rPr>
              <a:t>Bidirectional override</a:t>
            </a:r>
            <a:endParaRPr lang="en-US" sz="1100" dirty="0"/>
          </a:p>
        </p:txBody>
      </p:sp>
      <p:sp>
        <p:nvSpPr>
          <p:cNvPr id="36" name="Shape 33"/>
          <p:cNvSpPr/>
          <p:nvPr/>
        </p:nvSpPr>
        <p:spPr>
          <a:xfrm>
            <a:off x="5068702" y="4480560"/>
            <a:ext cx="2054291" cy="1371600"/>
          </a:xfrm>
          <a:prstGeom prst="roundRect">
            <a:avLst>
              <a:gd name="adj" fmla="val 8000"/>
            </a:avLst>
          </a:prstGeom>
          <a:solidFill>
            <a:srgbClr val="FFFFFF"/>
          </a:solidFill>
          <a:ln w="7620">
            <a:solidFill>
              <a:srgbClr val="DFE2EA"/>
            </a:solidFill>
            <a:prstDash val="solid"/>
          </a:ln>
          <a:effectLst>
            <a:outerShdw sx="100000" sy="100000" kx="0" ky="0" algn="bl" rotWithShape="0" blurRad="177800" dist="38100" dir="8100000">
              <a:srgbClr val="000000">
                <a:alpha val="10000"/>
              </a:srgbClr>
            </a:outerShdw>
          </a:effectLst>
        </p:spPr>
      </p:sp>
      <p:sp>
        <p:nvSpPr>
          <p:cNvPr id="37" name="Shape 34"/>
          <p:cNvSpPr/>
          <p:nvPr/>
        </p:nvSpPr>
        <p:spPr>
          <a:xfrm>
            <a:off x="5068702" y="4480560"/>
            <a:ext cx="2054291" cy="91440"/>
          </a:xfrm>
          <a:prstGeom prst="rect">
            <a:avLst/>
          </a:prstGeom>
          <a:solidFill>
            <a:srgbClr val="6F42C1"/>
          </a:solidFill>
          <a:ln/>
        </p:spPr>
      </p:sp>
      <p:sp>
        <p:nvSpPr>
          <p:cNvPr id="38" name="Text 35"/>
          <p:cNvSpPr/>
          <p:nvPr/>
        </p:nvSpPr>
        <p:spPr>
          <a:xfrm>
            <a:off x="5251582" y="4709160"/>
            <a:ext cx="1688531" cy="411480"/>
          </a:xfrm>
          <a:prstGeom prst="rect">
            <a:avLst/>
          </a:prstGeom>
          <a:noFill/>
          <a:ln/>
        </p:spPr>
        <p:txBody>
          <a:bodyPr wrap="square" lIns="0" tIns="0" rIns="0" bIns="0"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Outbound target</a:t>
            </a:r>
            <a:endParaRPr lang="en-US" sz="1600" dirty="0"/>
          </a:p>
        </p:txBody>
      </p:sp>
      <p:sp>
        <p:nvSpPr>
          <p:cNvPr id="39" name="Text 36"/>
          <p:cNvSpPr/>
          <p:nvPr/>
        </p:nvSpPr>
        <p:spPr>
          <a:xfrm>
            <a:off x="5251582" y="5166360"/>
            <a:ext cx="1688531" cy="594360"/>
          </a:xfrm>
          <a:prstGeom prst="rect">
            <a:avLst/>
          </a:prstGeom>
          <a:noFill/>
          <a:ln/>
        </p:spPr>
        <p:txBody>
          <a:bodyPr wrap="square" lIns="0" tIns="0" rIns="0" bIns="0" rtlCol="0" anchor="ctr"/>
          <a:lstStyle/>
          <a:p>
            <a:pPr indent="0" marL="0">
              <a:buNone/>
            </a:pPr>
            <a:r>
              <a:rPr lang="en-US" sz="1100" i="1" dirty="0">
                <a:solidFill>
                  <a:srgbClr val="4A4D57"/>
                </a:solidFill>
                <a:latin typeface="Calibri" pitchFamily="34" charset="0"/>
                <a:ea typeface="Calibri" pitchFamily="34" charset="-122"/>
                <a:cs typeface="Calibri" pitchFamily="34" charset="-120"/>
              </a:rPr>
              <a:t>Where a link points</a:t>
            </a:r>
            <a:endParaRPr lang="en-US" sz="1100" dirty="0"/>
          </a:p>
        </p:txBody>
      </p:sp>
      <p:sp>
        <p:nvSpPr>
          <p:cNvPr id="40" name="Shape 37"/>
          <p:cNvSpPr/>
          <p:nvPr/>
        </p:nvSpPr>
        <p:spPr>
          <a:xfrm>
            <a:off x="7351593" y="4480560"/>
            <a:ext cx="2054291" cy="1371600"/>
          </a:xfrm>
          <a:prstGeom prst="roundRect">
            <a:avLst>
              <a:gd name="adj" fmla="val 8000"/>
            </a:avLst>
          </a:prstGeom>
          <a:solidFill>
            <a:srgbClr val="FFFFFF"/>
          </a:solidFill>
          <a:ln w="7620">
            <a:solidFill>
              <a:srgbClr val="DFE2EA"/>
            </a:solidFill>
            <a:prstDash val="solid"/>
          </a:ln>
          <a:effectLst>
            <a:outerShdw sx="100000" sy="100000" kx="0" ky="0" algn="bl" rotWithShape="0" blurRad="177800" dist="38100" dir="8100000">
              <a:srgbClr val="000000">
                <a:alpha val="10000"/>
              </a:srgbClr>
            </a:outerShdw>
          </a:effectLst>
        </p:spPr>
      </p:sp>
      <p:sp>
        <p:nvSpPr>
          <p:cNvPr id="41" name="Shape 38"/>
          <p:cNvSpPr/>
          <p:nvPr/>
        </p:nvSpPr>
        <p:spPr>
          <a:xfrm>
            <a:off x="7351593" y="4480560"/>
            <a:ext cx="2054291" cy="91440"/>
          </a:xfrm>
          <a:prstGeom prst="rect">
            <a:avLst/>
          </a:prstGeom>
          <a:solidFill>
            <a:srgbClr val="6F42C1"/>
          </a:solidFill>
          <a:ln/>
        </p:spPr>
      </p:sp>
      <p:sp>
        <p:nvSpPr>
          <p:cNvPr id="42" name="Text 39"/>
          <p:cNvSpPr/>
          <p:nvPr/>
        </p:nvSpPr>
        <p:spPr>
          <a:xfrm>
            <a:off x="7534473" y="4709160"/>
            <a:ext cx="1688531" cy="411480"/>
          </a:xfrm>
          <a:prstGeom prst="rect">
            <a:avLst/>
          </a:prstGeom>
          <a:noFill/>
          <a:ln/>
        </p:spPr>
        <p:txBody>
          <a:bodyPr wrap="square" lIns="0" tIns="0" rIns="0" bIns="0"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Channel mismatch</a:t>
            </a:r>
            <a:endParaRPr lang="en-US" sz="1600" dirty="0"/>
          </a:p>
        </p:txBody>
      </p:sp>
      <p:sp>
        <p:nvSpPr>
          <p:cNvPr id="43" name="Text 40"/>
          <p:cNvSpPr/>
          <p:nvPr/>
        </p:nvSpPr>
        <p:spPr>
          <a:xfrm>
            <a:off x="7534473" y="5166360"/>
            <a:ext cx="1688531" cy="594360"/>
          </a:xfrm>
          <a:prstGeom prst="rect">
            <a:avLst/>
          </a:prstGeom>
          <a:noFill/>
          <a:ln/>
        </p:spPr>
        <p:txBody>
          <a:bodyPr wrap="square" lIns="0" tIns="0" rIns="0" bIns="0" rtlCol="0" anchor="ctr"/>
          <a:lstStyle/>
          <a:p>
            <a:pPr indent="0" marL="0">
              <a:buNone/>
            </a:pPr>
            <a:r>
              <a:rPr lang="en-US" sz="1100" i="1" dirty="0">
                <a:solidFill>
                  <a:srgbClr val="4A4D57"/>
                </a:solidFill>
                <a:latin typeface="Calibri" pitchFamily="34" charset="0"/>
                <a:ea typeface="Calibri" pitchFamily="34" charset="-122"/>
                <a:cs typeface="Calibri" pitchFamily="34" charset="-120"/>
              </a:rPr>
              <a:t>HTML inside a transcript</a:t>
            </a:r>
            <a:endParaRPr lang="en-US" sz="1100" dirty="0"/>
          </a:p>
        </p:txBody>
      </p:sp>
      <p:sp>
        <p:nvSpPr>
          <p:cNvPr id="44" name="Shape 41"/>
          <p:cNvSpPr/>
          <p:nvPr/>
        </p:nvSpPr>
        <p:spPr>
          <a:xfrm>
            <a:off x="9634484" y="4480560"/>
            <a:ext cx="2054291" cy="1371600"/>
          </a:xfrm>
          <a:prstGeom prst="roundRect">
            <a:avLst>
              <a:gd name="adj" fmla="val 8000"/>
            </a:avLst>
          </a:prstGeom>
          <a:solidFill>
            <a:srgbClr val="FFFFFF"/>
          </a:solidFill>
          <a:ln w="7620">
            <a:solidFill>
              <a:srgbClr val="DFE2EA"/>
            </a:solidFill>
            <a:prstDash val="solid"/>
          </a:ln>
          <a:effectLst>
            <a:outerShdw sx="100000" sy="100000" kx="0" ky="0" algn="bl" rotWithShape="0" blurRad="177800" dist="38100" dir="8100000">
              <a:srgbClr val="000000">
                <a:alpha val="10000"/>
              </a:srgbClr>
            </a:outerShdw>
          </a:effectLst>
        </p:spPr>
      </p:sp>
      <p:sp>
        <p:nvSpPr>
          <p:cNvPr id="45" name="Shape 42"/>
          <p:cNvSpPr/>
          <p:nvPr/>
        </p:nvSpPr>
        <p:spPr>
          <a:xfrm>
            <a:off x="9634484" y="4480560"/>
            <a:ext cx="2054291" cy="91440"/>
          </a:xfrm>
          <a:prstGeom prst="rect">
            <a:avLst/>
          </a:prstGeom>
          <a:solidFill>
            <a:srgbClr val="6F42C1"/>
          </a:solidFill>
          <a:ln/>
        </p:spPr>
      </p:sp>
      <p:sp>
        <p:nvSpPr>
          <p:cNvPr id="46" name="Text 43"/>
          <p:cNvSpPr/>
          <p:nvPr/>
        </p:nvSpPr>
        <p:spPr>
          <a:xfrm>
            <a:off x="9817364" y="4709160"/>
            <a:ext cx="1688531" cy="411480"/>
          </a:xfrm>
          <a:prstGeom prst="rect">
            <a:avLst/>
          </a:prstGeom>
          <a:noFill/>
          <a:ln/>
        </p:spPr>
        <p:txBody>
          <a:bodyPr wrap="square" lIns="0" tIns="0" rIns="0" bIns="0"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Semantic intent</a:t>
            </a:r>
            <a:endParaRPr lang="en-US" sz="1600" dirty="0"/>
          </a:p>
        </p:txBody>
      </p:sp>
      <p:sp>
        <p:nvSpPr>
          <p:cNvPr id="47" name="Text 44"/>
          <p:cNvSpPr/>
          <p:nvPr/>
        </p:nvSpPr>
        <p:spPr>
          <a:xfrm>
            <a:off x="9817364" y="5166360"/>
            <a:ext cx="1688531" cy="594360"/>
          </a:xfrm>
          <a:prstGeom prst="rect">
            <a:avLst/>
          </a:prstGeom>
          <a:noFill/>
          <a:ln/>
        </p:spPr>
        <p:txBody>
          <a:bodyPr wrap="square" lIns="0" tIns="0" rIns="0" bIns="0" rtlCol="0" anchor="ctr"/>
          <a:lstStyle/>
          <a:p>
            <a:pPr indent="0" marL="0">
              <a:buNone/>
            </a:pPr>
            <a:r>
              <a:rPr lang="en-US" sz="1100" i="1" dirty="0">
                <a:solidFill>
                  <a:srgbClr val="4A4D57"/>
                </a:solidFill>
                <a:latin typeface="Calibri" pitchFamily="34" charset="0"/>
                <a:ea typeface="Calibri" pitchFamily="34" charset="-122"/>
                <a:cs typeface="Calibri" pitchFamily="34" charset="-120"/>
              </a:rPr>
              <a:t>Meaning, not exact words</a:t>
            </a:r>
            <a:endParaRPr lang="en-US" sz="1100" dirty="0"/>
          </a:p>
        </p:txBody>
      </p:sp>
      <p:sp>
        <p:nvSpPr>
          <p:cNvPr id="48" name="Shape 45"/>
          <p:cNvSpPr/>
          <p:nvPr/>
        </p:nvSpPr>
        <p:spPr>
          <a:xfrm>
            <a:off x="502920" y="5943600"/>
            <a:ext cx="11185855" cy="502920"/>
          </a:xfrm>
          <a:prstGeom prst="roundRect">
            <a:avLst>
              <a:gd name="adj" fmla="val 21818"/>
            </a:avLst>
          </a:prstGeom>
          <a:solidFill>
            <a:srgbClr val="1A1A1A"/>
          </a:solidFill>
          <a:ln w="7620">
            <a:solidFill>
              <a:srgbClr val="1A1A1A"/>
            </a:solidFill>
            <a:prstDash val="solid"/>
          </a:ln>
        </p:spPr>
      </p:sp>
      <p:sp>
        <p:nvSpPr>
          <p:cNvPr id="49" name="Text 46"/>
          <p:cNvSpPr/>
          <p:nvPr/>
        </p:nvSpPr>
        <p:spPr>
          <a:xfrm>
            <a:off x="731520" y="5943600"/>
            <a:ext cx="10728655" cy="502920"/>
          </a:xfrm>
          <a:prstGeom prst="rect">
            <a:avLst/>
          </a:prstGeom>
          <a:noFill/>
          <a:ln/>
        </p:spPr>
        <p:txBody>
          <a:bodyPr wrap="square" lIns="0" tIns="0" rIns="0" bIns="0"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To slip through, an attack must leave a clean fingerprint on every one of these axes simultaneously. That's hard — because real attacks usually trip several at once.</a:t>
            </a:r>
            <a:endParaRPr lang="en-US" sz="1200" dirty="0"/>
          </a:p>
        </p:txBody>
      </p:sp>
      <p:sp>
        <p:nvSpPr>
          <p:cNvPr id="50" name="Shape 47"/>
          <p:cNvSpPr/>
          <p:nvPr/>
        </p:nvSpPr>
        <p:spPr>
          <a:xfrm>
            <a:off x="502920" y="6446520"/>
            <a:ext cx="11185855" cy="0"/>
          </a:xfrm>
          <a:prstGeom prst="line">
            <a:avLst/>
          </a:prstGeom>
          <a:noFill/>
          <a:ln w="6350">
            <a:solidFill>
              <a:srgbClr val="DFE2EA"/>
            </a:solidFill>
            <a:prstDash val="solid"/>
          </a:ln>
        </p:spPr>
      </p:sp>
      <p:sp>
        <p:nvSpPr>
          <p:cNvPr id="51" name="Text 48"/>
          <p:cNvSpPr/>
          <p:nvPr/>
        </p:nvSpPr>
        <p:spPr>
          <a:xfrm>
            <a:off x="502920" y="6510528"/>
            <a:ext cx="7315200" cy="274320"/>
          </a:xfrm>
          <a:prstGeom prst="rect">
            <a:avLst/>
          </a:prstGeom>
          <a:noFill/>
          <a:ln/>
        </p:spPr>
        <p:txBody>
          <a:bodyPr wrap="square" lIns="0" tIns="0" rIns="0" bIns="0" rtlCol="0" anchor="ctr"/>
          <a:lstStyle/>
          <a:p>
            <a:pPr indent="0" marL="0">
              <a:buNone/>
            </a:pPr>
            <a:r>
              <a:rPr lang="en-US" sz="900" dirty="0">
                <a:solidFill>
                  <a:srgbClr val="7A7E8A"/>
                </a:solidFill>
                <a:latin typeface="Calibri" pitchFamily="34" charset="0"/>
                <a:ea typeface="Calibri" pitchFamily="34" charset="-122"/>
                <a:cs typeface="Calibri" pitchFamily="34" charset="-120"/>
              </a:rPr>
              <a:t>Trapdoor · Working architecture</a:t>
            </a:r>
            <a:endParaRPr lang="en-US" sz="900" dirty="0"/>
          </a:p>
        </p:txBody>
      </p:sp>
      <p:sp>
        <p:nvSpPr>
          <p:cNvPr id="52" name="Text 49"/>
          <p:cNvSpPr/>
          <p:nvPr/>
        </p:nvSpPr>
        <p:spPr>
          <a:xfrm>
            <a:off x="10637215" y="6510528"/>
            <a:ext cx="1051560" cy="274320"/>
          </a:xfrm>
          <a:prstGeom prst="rect">
            <a:avLst/>
          </a:prstGeom>
          <a:noFill/>
          <a:ln/>
        </p:spPr>
        <p:txBody>
          <a:bodyPr wrap="square" lIns="0" tIns="0" rIns="0" bIns="0" rtlCol="0" anchor="ctr"/>
          <a:lstStyle/>
          <a:p>
            <a:pPr algn="r" indent="0" marL="0">
              <a:buNone/>
            </a:pPr>
            <a:r>
              <a:rPr lang="en-US" sz="900" dirty="0">
                <a:solidFill>
                  <a:srgbClr val="7A7E8A"/>
                </a:solidFill>
                <a:latin typeface="Calibri" pitchFamily="34" charset="0"/>
                <a:ea typeface="Calibri" pitchFamily="34" charset="-122"/>
                <a:cs typeface="Calibri" pitchFamily="34" charset="-120"/>
              </a:rPr>
              <a:t>6 / 12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5F9"/>
        </a:solidFill>
      </p:bgPr>
    </p:bg>
    <p:spTree>
      <p:nvGrpSpPr>
        <p:cNvPr id="1" name=""/>
        <p:cNvGrpSpPr/>
        <p:nvPr/>
      </p:nvGrpSpPr>
      <p:grpSpPr>
        <a:xfrm>
          <a:off x="0" y="0"/>
          <a:ext cx="0" cy="0"/>
          <a:chOff x="0" y="0"/>
          <a:chExt cx="0" cy="0"/>
        </a:xfrm>
      </p:grpSpPr>
      <p:sp>
        <p:nvSpPr>
          <p:cNvPr id="2" name="Shape 0"/>
          <p:cNvSpPr/>
          <p:nvPr/>
        </p:nvSpPr>
        <p:spPr>
          <a:xfrm>
            <a:off x="502920" y="868680"/>
            <a:ext cx="201168" cy="292608"/>
          </a:xfrm>
          <a:prstGeom prst="rect">
            <a:avLst/>
          </a:prstGeom>
          <a:solidFill>
            <a:srgbClr val="E40029"/>
          </a:solidFill>
          <a:ln/>
        </p:spPr>
      </p:sp>
      <p:sp>
        <p:nvSpPr>
          <p:cNvPr id="3" name="Text 1"/>
          <p:cNvSpPr/>
          <p:nvPr/>
        </p:nvSpPr>
        <p:spPr>
          <a:xfrm>
            <a:off x="822960" y="850392"/>
            <a:ext cx="6858000" cy="329184"/>
          </a:xfrm>
          <a:prstGeom prst="rect">
            <a:avLst/>
          </a:prstGeom>
          <a:noFill/>
          <a:ln/>
        </p:spPr>
        <p:txBody>
          <a:bodyPr wrap="square" lIns="0" tIns="0" rIns="0" bIns="0" rtlCol="0" anchor="ctr"/>
          <a:lstStyle/>
          <a:p>
            <a:pPr indent="0" marL="0">
              <a:buNone/>
            </a:pPr>
            <a:r>
              <a:rPr lang="en-US" sz="1100" b="1" spc="400" kern="0" dirty="0">
                <a:solidFill>
                  <a:srgbClr val="E40029"/>
                </a:solidFill>
                <a:latin typeface="Calibri" pitchFamily="34" charset="0"/>
                <a:ea typeface="Calibri" pitchFamily="34" charset="-122"/>
                <a:cs typeface="Calibri" pitchFamily="34" charset="-120"/>
              </a:rPr>
              <a:t>STAGE 3 · SANITIZE</a:t>
            </a:r>
            <a:endParaRPr lang="en-US" sz="1100" dirty="0"/>
          </a:p>
        </p:txBody>
      </p:sp>
      <p:sp>
        <p:nvSpPr>
          <p:cNvPr id="4" name="Text 2"/>
          <p:cNvSpPr/>
          <p:nvPr/>
        </p:nvSpPr>
        <p:spPr>
          <a:xfrm>
            <a:off x="502920" y="1243584"/>
            <a:ext cx="11185855" cy="777240"/>
          </a:xfrm>
          <a:prstGeom prst="rect">
            <a:avLst/>
          </a:prstGeom>
          <a:noFill/>
          <a:ln/>
        </p:spPr>
        <p:txBody>
          <a:bodyPr wrap="square" lIns="0" tIns="0" rIns="0" bIns="0" rtlCol="0" anchor="t"/>
          <a:lstStyle/>
          <a:p>
            <a:pPr algn="l" indent="0" marL="0">
              <a:buNone/>
            </a:pPr>
            <a:r>
              <a:rPr lang="en-US" sz="3400" b="1" dirty="0">
                <a:solidFill>
                  <a:srgbClr val="1A1A1A"/>
                </a:solidFill>
                <a:latin typeface="Calibri" pitchFamily="34" charset="0"/>
                <a:ea typeface="Calibri" pitchFamily="34" charset="-122"/>
                <a:cs typeface="Calibri" pitchFamily="34" charset="-120"/>
              </a:rPr>
              <a:t>Hand the model a clean version.</a:t>
            </a:r>
            <a:endParaRPr lang="en-US" sz="3400" dirty="0"/>
          </a:p>
        </p:txBody>
      </p:sp>
      <p:sp>
        <p:nvSpPr>
          <p:cNvPr id="5" name="Text 3"/>
          <p:cNvSpPr/>
          <p:nvPr/>
        </p:nvSpPr>
        <p:spPr>
          <a:xfrm>
            <a:off x="502920" y="1993392"/>
            <a:ext cx="11185855" cy="411480"/>
          </a:xfrm>
          <a:prstGeom prst="rect">
            <a:avLst/>
          </a:prstGeom>
          <a:noFill/>
          <a:ln/>
        </p:spPr>
        <p:txBody>
          <a:bodyPr wrap="square" lIns="0" tIns="0" rIns="0" bIns="0" rtlCol="0" anchor="ctr"/>
          <a:lstStyle/>
          <a:p>
            <a:pPr indent="0" marL="0">
              <a:buNone/>
            </a:pPr>
            <a:r>
              <a:rPr lang="en-US" sz="1400" dirty="0">
                <a:solidFill>
                  <a:srgbClr val="4A4D57"/>
                </a:solidFill>
                <a:latin typeface="Calibri" pitchFamily="34" charset="0"/>
                <a:ea typeface="Calibri" pitchFamily="34" charset="-122"/>
                <a:cs typeface="Calibri" pitchFamily="34" charset="-120"/>
              </a:rPr>
              <a:t>Every alarm carries a recommended action. We apply them and produce safe text.</a:t>
            </a:r>
            <a:endParaRPr lang="en-US" sz="1400" dirty="0"/>
          </a:p>
        </p:txBody>
      </p:sp>
      <p:sp>
        <p:nvSpPr>
          <p:cNvPr id="6" name="Shape 4"/>
          <p:cNvSpPr/>
          <p:nvPr/>
        </p:nvSpPr>
        <p:spPr>
          <a:xfrm>
            <a:off x="502920" y="2542032"/>
            <a:ext cx="11185855" cy="0"/>
          </a:xfrm>
          <a:prstGeom prst="line">
            <a:avLst/>
          </a:prstGeom>
          <a:noFill/>
          <a:ln w="9525">
            <a:solidFill>
              <a:srgbClr val="DFE2EA"/>
            </a:solidFill>
            <a:prstDash val="solid"/>
          </a:ln>
        </p:spPr>
      </p:sp>
      <p:pic>
        <p:nvPicPr>
          <p:cNvPr id="7" name="Image 0" descr="assets/tech-mahindra-logo.png">    </p:cNvPr>
          <p:cNvPicPr>
            <a:picLocks noChangeAspect="1"/>
          </p:cNvPicPr>
          <p:nvPr/>
        </p:nvPicPr>
        <p:blipFill>
          <a:blip r:embed="rId1"/>
          <a:stretch>
            <a:fillRect/>
          </a:stretch>
        </p:blipFill>
        <p:spPr>
          <a:xfrm>
            <a:off x="10183952" y="384048"/>
            <a:ext cx="1504824" cy="411480"/>
          </a:xfrm>
          <a:prstGeom prst="rect">
            <a:avLst/>
          </a:prstGeom>
        </p:spPr>
      </p:pic>
      <p:sp>
        <p:nvSpPr>
          <p:cNvPr id="8" name="Shape 5"/>
          <p:cNvSpPr/>
          <p:nvPr/>
        </p:nvSpPr>
        <p:spPr>
          <a:xfrm>
            <a:off x="502920" y="2788920"/>
            <a:ext cx="3576218" cy="2560320"/>
          </a:xfrm>
          <a:prstGeom prst="roundRect">
            <a:avLst>
              <a:gd name="adj" fmla="val 4286"/>
            </a:avLst>
          </a:prstGeom>
          <a:solidFill>
            <a:srgbClr val="FFFFFF"/>
          </a:solidFill>
          <a:ln w="7620">
            <a:solidFill>
              <a:srgbClr val="DFE2EA"/>
            </a:solidFill>
            <a:prstDash val="solid"/>
          </a:ln>
          <a:effectLst>
            <a:outerShdw sx="100000" sy="100000" kx="0" ky="0" algn="bl" rotWithShape="0" blurRad="177800" dist="38100" dir="8100000">
              <a:srgbClr val="000000">
                <a:alpha val="10000"/>
              </a:srgbClr>
            </a:outerShdw>
          </a:effectLst>
        </p:spPr>
      </p:sp>
      <p:sp>
        <p:nvSpPr>
          <p:cNvPr id="9" name="Shape 6"/>
          <p:cNvSpPr/>
          <p:nvPr/>
        </p:nvSpPr>
        <p:spPr>
          <a:xfrm>
            <a:off x="777240" y="3063240"/>
            <a:ext cx="1280160" cy="365760"/>
          </a:xfrm>
          <a:prstGeom prst="roundRect">
            <a:avLst>
              <a:gd name="adj" fmla="val 17500"/>
            </a:avLst>
          </a:prstGeom>
          <a:solidFill>
            <a:srgbClr val="D98A00"/>
          </a:solidFill>
          <a:ln/>
        </p:spPr>
      </p:sp>
      <p:sp>
        <p:nvSpPr>
          <p:cNvPr id="10" name="Text 7"/>
          <p:cNvSpPr/>
          <p:nvPr/>
        </p:nvSpPr>
        <p:spPr>
          <a:xfrm>
            <a:off x="777240" y="3063240"/>
            <a:ext cx="1280160" cy="365760"/>
          </a:xfrm>
          <a:prstGeom prst="rect">
            <a:avLst/>
          </a:prstGeom>
          <a:noFill/>
          <a:ln/>
        </p:spPr>
        <p:txBody>
          <a:bodyPr wrap="square" lIns="0" tIns="0" rIns="0" bIns="0" rtlCol="0" anchor="ctr"/>
          <a:lstStyle/>
          <a:p>
            <a:pPr algn="ctr" indent="0" marL="0">
              <a:buNone/>
            </a:pPr>
            <a:r>
              <a:rPr lang="en-US" sz="1200" b="1" spc="400" kern="0" dirty="0">
                <a:solidFill>
                  <a:srgbClr val="FFFFFF"/>
                </a:solidFill>
                <a:latin typeface="Calibri" pitchFamily="34" charset="0"/>
                <a:ea typeface="Calibri" pitchFamily="34" charset="-122"/>
                <a:cs typeface="Calibri" pitchFamily="34" charset="-120"/>
              </a:rPr>
              <a:t>STRIP</a:t>
            </a:r>
            <a:endParaRPr lang="en-US" sz="1200" dirty="0"/>
          </a:p>
        </p:txBody>
      </p:sp>
      <p:sp>
        <p:nvSpPr>
          <p:cNvPr id="11" name="Text 8"/>
          <p:cNvSpPr/>
          <p:nvPr/>
        </p:nvSpPr>
        <p:spPr>
          <a:xfrm>
            <a:off x="777240" y="3566160"/>
            <a:ext cx="3027578" cy="457200"/>
          </a:xfrm>
          <a:prstGeom prst="rect">
            <a:avLst/>
          </a:prstGeom>
          <a:noFill/>
          <a:ln/>
        </p:spPr>
        <p:txBody>
          <a:bodyPr wrap="square" lIns="0" tIns="0" rIns="0" bIns="0" rtlCol="0" anchor="ctr"/>
          <a:lstStyle/>
          <a:p>
            <a:pPr indent="0" marL="0">
              <a:buNone/>
            </a:pPr>
            <a:r>
              <a:rPr lang="en-US" sz="1800" b="1" dirty="0">
                <a:solidFill>
                  <a:srgbClr val="1A1A1A"/>
                </a:solidFill>
                <a:latin typeface="Calibri" pitchFamily="34" charset="0"/>
                <a:ea typeface="Calibri" pitchFamily="34" charset="-122"/>
                <a:cs typeface="Calibri" pitchFamily="34" charset="-120"/>
              </a:rPr>
              <a:t>Remove the offending span</a:t>
            </a:r>
            <a:endParaRPr lang="en-US" sz="1800" dirty="0"/>
          </a:p>
        </p:txBody>
      </p:sp>
      <p:sp>
        <p:nvSpPr>
          <p:cNvPr id="12" name="Text 9"/>
          <p:cNvSpPr/>
          <p:nvPr/>
        </p:nvSpPr>
        <p:spPr>
          <a:xfrm>
            <a:off x="777240" y="4069080"/>
            <a:ext cx="3027578" cy="1188720"/>
          </a:xfrm>
          <a:prstGeom prst="rect">
            <a:avLst/>
          </a:prstGeom>
          <a:noFill/>
          <a:ln/>
        </p:spPr>
        <p:txBody>
          <a:bodyPr wrap="square" lIns="0" tIns="0" rIns="0" bIns="0" rtlCol="0" anchor="ctr"/>
          <a:lstStyle/>
          <a:p>
            <a:pPr indent="0" marL="0">
              <a:buNone/>
            </a:pPr>
            <a:r>
              <a:rPr lang="en-US" sz="1300" dirty="0">
                <a:solidFill>
                  <a:srgbClr val="4A4D57"/>
                </a:solidFill>
                <a:latin typeface="Calibri" pitchFamily="34" charset="0"/>
                <a:ea typeface="Calibri" pitchFamily="34" charset="-122"/>
                <a:cs typeface="Calibri" pitchFamily="34" charset="-120"/>
              </a:rPr>
              <a:t>Cut out only the attack words. Replace with [REDACTED]. The rest of the surrounding sentence survives unharmed.</a:t>
            </a:r>
            <a:endParaRPr lang="en-US" sz="1300" dirty="0"/>
          </a:p>
        </p:txBody>
      </p:sp>
      <p:sp>
        <p:nvSpPr>
          <p:cNvPr id="13" name="Shape 10"/>
          <p:cNvSpPr/>
          <p:nvPr/>
        </p:nvSpPr>
        <p:spPr>
          <a:xfrm>
            <a:off x="4307738" y="2788920"/>
            <a:ext cx="3576218" cy="2560320"/>
          </a:xfrm>
          <a:prstGeom prst="roundRect">
            <a:avLst>
              <a:gd name="adj" fmla="val 4286"/>
            </a:avLst>
          </a:prstGeom>
          <a:solidFill>
            <a:srgbClr val="FFFFFF"/>
          </a:solidFill>
          <a:ln w="7620">
            <a:solidFill>
              <a:srgbClr val="DFE2EA"/>
            </a:solidFill>
            <a:prstDash val="solid"/>
          </a:ln>
          <a:effectLst>
            <a:outerShdw sx="100000" sy="100000" kx="0" ky="0" algn="bl" rotWithShape="0" blurRad="177800" dist="38100" dir="8100000">
              <a:srgbClr val="000000">
                <a:alpha val="10000"/>
              </a:srgbClr>
            </a:outerShdw>
          </a:effectLst>
        </p:spPr>
      </p:sp>
      <p:sp>
        <p:nvSpPr>
          <p:cNvPr id="14" name="Shape 11"/>
          <p:cNvSpPr/>
          <p:nvPr/>
        </p:nvSpPr>
        <p:spPr>
          <a:xfrm>
            <a:off x="4582058" y="3063240"/>
            <a:ext cx="1280160" cy="365760"/>
          </a:xfrm>
          <a:prstGeom prst="roundRect">
            <a:avLst>
              <a:gd name="adj" fmla="val 17500"/>
            </a:avLst>
          </a:prstGeom>
          <a:solidFill>
            <a:srgbClr val="0078D4"/>
          </a:solidFill>
          <a:ln/>
        </p:spPr>
      </p:sp>
      <p:sp>
        <p:nvSpPr>
          <p:cNvPr id="15" name="Text 12"/>
          <p:cNvSpPr/>
          <p:nvPr/>
        </p:nvSpPr>
        <p:spPr>
          <a:xfrm>
            <a:off x="4582058" y="3063240"/>
            <a:ext cx="1280160" cy="365760"/>
          </a:xfrm>
          <a:prstGeom prst="rect">
            <a:avLst/>
          </a:prstGeom>
          <a:noFill/>
          <a:ln/>
        </p:spPr>
        <p:txBody>
          <a:bodyPr wrap="square" lIns="0" tIns="0" rIns="0" bIns="0" rtlCol="0" anchor="ctr"/>
          <a:lstStyle/>
          <a:p>
            <a:pPr algn="ctr" indent="0" marL="0">
              <a:buNone/>
            </a:pPr>
            <a:r>
              <a:rPr lang="en-US" sz="1200" b="1" spc="400" kern="0" dirty="0">
                <a:solidFill>
                  <a:srgbClr val="FFFFFF"/>
                </a:solidFill>
                <a:latin typeface="Calibri" pitchFamily="34" charset="0"/>
                <a:ea typeface="Calibri" pitchFamily="34" charset="-122"/>
                <a:cs typeface="Calibri" pitchFamily="34" charset="-120"/>
              </a:rPr>
              <a:t>QUOTE</a:t>
            </a:r>
            <a:endParaRPr lang="en-US" sz="1200" dirty="0"/>
          </a:p>
        </p:txBody>
      </p:sp>
      <p:sp>
        <p:nvSpPr>
          <p:cNvPr id="16" name="Text 13"/>
          <p:cNvSpPr/>
          <p:nvPr/>
        </p:nvSpPr>
        <p:spPr>
          <a:xfrm>
            <a:off x="4582058" y="3566160"/>
            <a:ext cx="3027578" cy="457200"/>
          </a:xfrm>
          <a:prstGeom prst="rect">
            <a:avLst/>
          </a:prstGeom>
          <a:noFill/>
          <a:ln/>
        </p:spPr>
        <p:txBody>
          <a:bodyPr wrap="square" lIns="0" tIns="0" rIns="0" bIns="0" rtlCol="0" anchor="ctr"/>
          <a:lstStyle/>
          <a:p>
            <a:pPr indent="0" marL="0">
              <a:buNone/>
            </a:pPr>
            <a:r>
              <a:rPr lang="en-US" sz="1800" b="1" dirty="0">
                <a:solidFill>
                  <a:srgbClr val="1A1A1A"/>
                </a:solidFill>
                <a:latin typeface="Calibri" pitchFamily="34" charset="0"/>
                <a:ea typeface="Calibri" pitchFamily="34" charset="-122"/>
                <a:cs typeface="Calibri" pitchFamily="34" charset="-120"/>
              </a:rPr>
              <a:t>Wrap as untrusted data</a:t>
            </a:r>
            <a:endParaRPr lang="en-US" sz="1800" dirty="0"/>
          </a:p>
        </p:txBody>
      </p:sp>
      <p:sp>
        <p:nvSpPr>
          <p:cNvPr id="17" name="Text 14"/>
          <p:cNvSpPr/>
          <p:nvPr/>
        </p:nvSpPr>
        <p:spPr>
          <a:xfrm>
            <a:off x="4582058" y="4069080"/>
            <a:ext cx="3027578" cy="1188720"/>
          </a:xfrm>
          <a:prstGeom prst="rect">
            <a:avLst/>
          </a:prstGeom>
          <a:noFill/>
          <a:ln/>
        </p:spPr>
        <p:txBody>
          <a:bodyPr wrap="square" lIns="0" tIns="0" rIns="0" bIns="0" rtlCol="0" anchor="ctr"/>
          <a:lstStyle/>
          <a:p>
            <a:pPr indent="0" marL="0">
              <a:buNone/>
            </a:pPr>
            <a:r>
              <a:rPr lang="en-US" sz="1300" dirty="0">
                <a:solidFill>
                  <a:srgbClr val="4A4D57"/>
                </a:solidFill>
                <a:latin typeface="Calibri" pitchFamily="34" charset="0"/>
                <a:ea typeface="Calibri" pitchFamily="34" charset="-122"/>
                <a:cs typeface="Calibri" pitchFamily="34" charset="-120"/>
              </a:rPr>
              <a:t>Surround the suspect text with an "untrusted" fenced block so the model knows to treat it as evidence, never as a directive.</a:t>
            </a:r>
            <a:endParaRPr lang="en-US" sz="1300" dirty="0"/>
          </a:p>
        </p:txBody>
      </p:sp>
      <p:sp>
        <p:nvSpPr>
          <p:cNvPr id="18" name="Shape 15"/>
          <p:cNvSpPr/>
          <p:nvPr/>
        </p:nvSpPr>
        <p:spPr>
          <a:xfrm>
            <a:off x="8112557" y="2788920"/>
            <a:ext cx="3576218" cy="2560320"/>
          </a:xfrm>
          <a:prstGeom prst="roundRect">
            <a:avLst>
              <a:gd name="adj" fmla="val 4286"/>
            </a:avLst>
          </a:prstGeom>
          <a:solidFill>
            <a:srgbClr val="FFFFFF"/>
          </a:solidFill>
          <a:ln w="7620">
            <a:solidFill>
              <a:srgbClr val="DFE2EA"/>
            </a:solidFill>
            <a:prstDash val="solid"/>
          </a:ln>
          <a:effectLst>
            <a:outerShdw sx="100000" sy="100000" kx="0" ky="0" algn="bl" rotWithShape="0" blurRad="177800" dist="38100" dir="8100000">
              <a:srgbClr val="000000">
                <a:alpha val="10000"/>
              </a:srgbClr>
            </a:outerShdw>
          </a:effectLst>
        </p:spPr>
      </p:sp>
      <p:sp>
        <p:nvSpPr>
          <p:cNvPr id="19" name="Shape 16"/>
          <p:cNvSpPr/>
          <p:nvPr/>
        </p:nvSpPr>
        <p:spPr>
          <a:xfrm>
            <a:off x="8386877" y="3063240"/>
            <a:ext cx="1280160" cy="365760"/>
          </a:xfrm>
          <a:prstGeom prst="roundRect">
            <a:avLst>
              <a:gd name="adj" fmla="val 17500"/>
            </a:avLst>
          </a:prstGeom>
          <a:solidFill>
            <a:srgbClr val="C81E2B"/>
          </a:solidFill>
          <a:ln/>
        </p:spPr>
      </p:sp>
      <p:sp>
        <p:nvSpPr>
          <p:cNvPr id="20" name="Text 17"/>
          <p:cNvSpPr/>
          <p:nvPr/>
        </p:nvSpPr>
        <p:spPr>
          <a:xfrm>
            <a:off x="8386877" y="3063240"/>
            <a:ext cx="1280160" cy="365760"/>
          </a:xfrm>
          <a:prstGeom prst="rect">
            <a:avLst/>
          </a:prstGeom>
          <a:noFill/>
          <a:ln/>
        </p:spPr>
        <p:txBody>
          <a:bodyPr wrap="square" lIns="0" tIns="0" rIns="0" bIns="0" rtlCol="0" anchor="ctr"/>
          <a:lstStyle/>
          <a:p>
            <a:pPr algn="ctr" indent="0" marL="0">
              <a:buNone/>
            </a:pPr>
            <a:r>
              <a:rPr lang="en-US" sz="1200" b="1" spc="400" kern="0" dirty="0">
                <a:solidFill>
                  <a:srgbClr val="FFFFFF"/>
                </a:solidFill>
                <a:latin typeface="Calibri" pitchFamily="34" charset="0"/>
                <a:ea typeface="Calibri" pitchFamily="34" charset="-122"/>
                <a:cs typeface="Calibri" pitchFamily="34" charset="-120"/>
              </a:rPr>
              <a:t>DISCARD</a:t>
            </a:r>
            <a:endParaRPr lang="en-US" sz="1200" dirty="0"/>
          </a:p>
        </p:txBody>
      </p:sp>
      <p:sp>
        <p:nvSpPr>
          <p:cNvPr id="21" name="Text 18"/>
          <p:cNvSpPr/>
          <p:nvPr/>
        </p:nvSpPr>
        <p:spPr>
          <a:xfrm>
            <a:off x="8386877" y="3566160"/>
            <a:ext cx="3027578" cy="457200"/>
          </a:xfrm>
          <a:prstGeom prst="rect">
            <a:avLst/>
          </a:prstGeom>
          <a:noFill/>
          <a:ln/>
        </p:spPr>
        <p:txBody>
          <a:bodyPr wrap="square" lIns="0" tIns="0" rIns="0" bIns="0" rtlCol="0" anchor="ctr"/>
          <a:lstStyle/>
          <a:p>
            <a:pPr indent="0" marL="0">
              <a:buNone/>
            </a:pPr>
            <a:r>
              <a:rPr lang="en-US" sz="1800" b="1" dirty="0">
                <a:solidFill>
                  <a:srgbClr val="1A1A1A"/>
                </a:solidFill>
                <a:latin typeface="Calibri" pitchFamily="34" charset="0"/>
                <a:ea typeface="Calibri" pitchFamily="34" charset="-122"/>
                <a:cs typeface="Calibri" pitchFamily="34" charset="-120"/>
              </a:rPr>
              <a:t>Drop the fragment entirely</a:t>
            </a:r>
            <a:endParaRPr lang="en-US" sz="1800" dirty="0"/>
          </a:p>
        </p:txBody>
      </p:sp>
      <p:sp>
        <p:nvSpPr>
          <p:cNvPr id="22" name="Text 19"/>
          <p:cNvSpPr/>
          <p:nvPr/>
        </p:nvSpPr>
        <p:spPr>
          <a:xfrm>
            <a:off x="8386877" y="4069080"/>
            <a:ext cx="3027578" cy="1188720"/>
          </a:xfrm>
          <a:prstGeom prst="rect">
            <a:avLst/>
          </a:prstGeom>
          <a:noFill/>
          <a:ln/>
        </p:spPr>
        <p:txBody>
          <a:bodyPr wrap="square" lIns="0" tIns="0" rIns="0" bIns="0" rtlCol="0" anchor="ctr"/>
          <a:lstStyle/>
          <a:p>
            <a:pPr indent="0" marL="0">
              <a:buNone/>
            </a:pPr>
            <a:r>
              <a:rPr lang="en-US" sz="1300" dirty="0">
                <a:solidFill>
                  <a:srgbClr val="4A4D57"/>
                </a:solidFill>
                <a:latin typeface="Calibri" pitchFamily="34" charset="0"/>
                <a:ea typeface="Calibri" pitchFamily="34" charset="-122"/>
                <a:cs typeface="Calibri" pitchFamily="34" charset="-120"/>
              </a:rPr>
              <a:t>For high-confidence attacks (decoded base64, image-hidden payloads), the whole fragment is removed before the model ever sees it.</a:t>
            </a:r>
            <a:endParaRPr lang="en-US" sz="1300" dirty="0"/>
          </a:p>
        </p:txBody>
      </p:sp>
      <p:sp>
        <p:nvSpPr>
          <p:cNvPr id="23" name="Shape 20"/>
          <p:cNvSpPr/>
          <p:nvPr/>
        </p:nvSpPr>
        <p:spPr>
          <a:xfrm>
            <a:off x="502920" y="5532120"/>
            <a:ext cx="11185855" cy="822960"/>
          </a:xfrm>
          <a:prstGeom prst="roundRect">
            <a:avLst>
              <a:gd name="adj" fmla="val 13333"/>
            </a:avLst>
          </a:prstGeom>
          <a:solidFill>
            <a:srgbClr val="EDF7EF"/>
          </a:solidFill>
          <a:ln w="7620">
            <a:solidFill>
              <a:srgbClr val="1F9C5B"/>
            </a:solidFill>
            <a:prstDash val="solid"/>
          </a:ln>
        </p:spPr>
      </p:sp>
      <p:sp>
        <p:nvSpPr>
          <p:cNvPr id="24" name="Text 21"/>
          <p:cNvSpPr/>
          <p:nvPr/>
        </p:nvSpPr>
        <p:spPr>
          <a:xfrm>
            <a:off x="777240" y="5577840"/>
            <a:ext cx="3657600" cy="365760"/>
          </a:xfrm>
          <a:prstGeom prst="rect">
            <a:avLst/>
          </a:prstGeom>
          <a:noFill/>
          <a:ln/>
        </p:spPr>
        <p:txBody>
          <a:bodyPr wrap="square" lIns="0" tIns="0" rIns="0" bIns="0" rtlCol="0" anchor="ctr"/>
          <a:lstStyle/>
          <a:p>
            <a:pPr indent="0" marL="0">
              <a:buNone/>
            </a:pPr>
            <a:r>
              <a:rPr lang="en-US" sz="1400" b="1" dirty="0">
                <a:solidFill>
                  <a:srgbClr val="1F9C5B"/>
                </a:solidFill>
                <a:latin typeface="Calibri" pitchFamily="34" charset="0"/>
                <a:ea typeface="Calibri" pitchFamily="34" charset="-122"/>
                <a:cs typeface="Calibri" pitchFamily="34" charset="-120"/>
              </a:rPr>
              <a:t>Deliverable: sanitized_context</a:t>
            </a:r>
            <a:endParaRPr lang="en-US" sz="1400" dirty="0"/>
          </a:p>
        </p:txBody>
      </p:sp>
      <p:sp>
        <p:nvSpPr>
          <p:cNvPr id="25" name="Text 22"/>
          <p:cNvSpPr/>
          <p:nvPr/>
        </p:nvSpPr>
        <p:spPr>
          <a:xfrm>
            <a:off x="777240" y="5925312"/>
            <a:ext cx="10637215" cy="411480"/>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The exact string of text the downstream language model is allowed to consume — with every detected attack already stripped, quoted, or discarded.</a:t>
            </a:r>
            <a:endParaRPr lang="en-US" sz="1200" dirty="0"/>
          </a:p>
        </p:txBody>
      </p:sp>
      <p:sp>
        <p:nvSpPr>
          <p:cNvPr id="26" name="Shape 23"/>
          <p:cNvSpPr/>
          <p:nvPr/>
        </p:nvSpPr>
        <p:spPr>
          <a:xfrm>
            <a:off x="502920" y="6446520"/>
            <a:ext cx="11185855" cy="0"/>
          </a:xfrm>
          <a:prstGeom prst="line">
            <a:avLst/>
          </a:prstGeom>
          <a:noFill/>
          <a:ln w="6350">
            <a:solidFill>
              <a:srgbClr val="DFE2EA"/>
            </a:solidFill>
            <a:prstDash val="solid"/>
          </a:ln>
        </p:spPr>
      </p:sp>
      <p:sp>
        <p:nvSpPr>
          <p:cNvPr id="27" name="Text 24"/>
          <p:cNvSpPr/>
          <p:nvPr/>
        </p:nvSpPr>
        <p:spPr>
          <a:xfrm>
            <a:off x="502920" y="6510528"/>
            <a:ext cx="7315200" cy="274320"/>
          </a:xfrm>
          <a:prstGeom prst="rect">
            <a:avLst/>
          </a:prstGeom>
          <a:noFill/>
          <a:ln/>
        </p:spPr>
        <p:txBody>
          <a:bodyPr wrap="square" lIns="0" tIns="0" rIns="0" bIns="0" rtlCol="0" anchor="ctr"/>
          <a:lstStyle/>
          <a:p>
            <a:pPr indent="0" marL="0">
              <a:buNone/>
            </a:pPr>
            <a:r>
              <a:rPr lang="en-US" sz="900" dirty="0">
                <a:solidFill>
                  <a:srgbClr val="7A7E8A"/>
                </a:solidFill>
                <a:latin typeface="Calibri" pitchFamily="34" charset="0"/>
                <a:ea typeface="Calibri" pitchFamily="34" charset="-122"/>
                <a:cs typeface="Calibri" pitchFamily="34" charset="-120"/>
              </a:rPr>
              <a:t>Trapdoor · Working architecture</a:t>
            </a:r>
            <a:endParaRPr lang="en-US" sz="900" dirty="0"/>
          </a:p>
        </p:txBody>
      </p:sp>
      <p:sp>
        <p:nvSpPr>
          <p:cNvPr id="28" name="Text 25"/>
          <p:cNvSpPr/>
          <p:nvPr/>
        </p:nvSpPr>
        <p:spPr>
          <a:xfrm>
            <a:off x="10637215" y="6510528"/>
            <a:ext cx="1051560" cy="274320"/>
          </a:xfrm>
          <a:prstGeom prst="rect">
            <a:avLst/>
          </a:prstGeom>
          <a:noFill/>
          <a:ln/>
        </p:spPr>
        <p:txBody>
          <a:bodyPr wrap="square" lIns="0" tIns="0" rIns="0" bIns="0" rtlCol="0" anchor="ctr"/>
          <a:lstStyle/>
          <a:p>
            <a:pPr algn="r" indent="0" marL="0">
              <a:buNone/>
            </a:pPr>
            <a:r>
              <a:rPr lang="en-US" sz="900" dirty="0">
                <a:solidFill>
                  <a:srgbClr val="7A7E8A"/>
                </a:solidFill>
                <a:latin typeface="Calibri" pitchFamily="34" charset="0"/>
                <a:ea typeface="Calibri" pitchFamily="34" charset="-122"/>
                <a:cs typeface="Calibri" pitchFamily="34" charset="-120"/>
              </a:rPr>
              <a:t>7 / 12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5F9"/>
        </a:solidFill>
      </p:bgPr>
    </p:bg>
    <p:spTree>
      <p:nvGrpSpPr>
        <p:cNvPr id="1" name=""/>
        <p:cNvGrpSpPr/>
        <p:nvPr/>
      </p:nvGrpSpPr>
      <p:grpSpPr>
        <a:xfrm>
          <a:off x="0" y="0"/>
          <a:ext cx="0" cy="0"/>
          <a:chOff x="0" y="0"/>
          <a:chExt cx="0" cy="0"/>
        </a:xfrm>
      </p:grpSpPr>
      <p:sp>
        <p:nvSpPr>
          <p:cNvPr id="2" name="Shape 0"/>
          <p:cNvSpPr/>
          <p:nvPr/>
        </p:nvSpPr>
        <p:spPr>
          <a:xfrm>
            <a:off x="502920" y="868680"/>
            <a:ext cx="201168" cy="292608"/>
          </a:xfrm>
          <a:prstGeom prst="rect">
            <a:avLst/>
          </a:prstGeom>
          <a:solidFill>
            <a:srgbClr val="E40029"/>
          </a:solidFill>
          <a:ln/>
        </p:spPr>
      </p:sp>
      <p:sp>
        <p:nvSpPr>
          <p:cNvPr id="3" name="Text 1"/>
          <p:cNvSpPr/>
          <p:nvPr/>
        </p:nvSpPr>
        <p:spPr>
          <a:xfrm>
            <a:off x="822960" y="850392"/>
            <a:ext cx="6858000" cy="329184"/>
          </a:xfrm>
          <a:prstGeom prst="rect">
            <a:avLst/>
          </a:prstGeom>
          <a:noFill/>
          <a:ln/>
        </p:spPr>
        <p:txBody>
          <a:bodyPr wrap="square" lIns="0" tIns="0" rIns="0" bIns="0" rtlCol="0" anchor="ctr"/>
          <a:lstStyle/>
          <a:p>
            <a:pPr indent="0" marL="0">
              <a:buNone/>
            </a:pPr>
            <a:r>
              <a:rPr lang="en-US" sz="1100" b="1" spc="400" kern="0" dirty="0">
                <a:solidFill>
                  <a:srgbClr val="E40029"/>
                </a:solidFill>
                <a:latin typeface="Calibri" pitchFamily="34" charset="0"/>
                <a:ea typeface="Calibri" pitchFamily="34" charset="-122"/>
                <a:cs typeface="Calibri" pitchFamily="34" charset="-120"/>
              </a:rPr>
              <a:t>THE VERDICT</a:t>
            </a:r>
            <a:endParaRPr lang="en-US" sz="1100" dirty="0"/>
          </a:p>
        </p:txBody>
      </p:sp>
      <p:sp>
        <p:nvSpPr>
          <p:cNvPr id="4" name="Text 2"/>
          <p:cNvSpPr/>
          <p:nvPr/>
        </p:nvSpPr>
        <p:spPr>
          <a:xfrm>
            <a:off x="502920" y="1243584"/>
            <a:ext cx="11185855" cy="777240"/>
          </a:xfrm>
          <a:prstGeom prst="rect">
            <a:avLst/>
          </a:prstGeom>
          <a:noFill/>
          <a:ln/>
        </p:spPr>
        <p:txBody>
          <a:bodyPr wrap="square" lIns="0" tIns="0" rIns="0" bIns="0" rtlCol="0" anchor="t"/>
          <a:lstStyle/>
          <a:p>
            <a:pPr algn="l" indent="0" marL="0">
              <a:buNone/>
            </a:pPr>
            <a:r>
              <a:rPr lang="en-US" sz="3400" b="1" dirty="0">
                <a:solidFill>
                  <a:srgbClr val="1A1A1A"/>
                </a:solidFill>
                <a:latin typeface="Calibri" pitchFamily="34" charset="0"/>
                <a:ea typeface="Calibri" pitchFamily="34" charset="-122"/>
                <a:cs typeface="Calibri" pitchFamily="34" charset="-120"/>
              </a:rPr>
              <a:t>One number. Three outcomes.</a:t>
            </a:r>
            <a:endParaRPr lang="en-US" sz="3400" dirty="0"/>
          </a:p>
        </p:txBody>
      </p:sp>
      <p:sp>
        <p:nvSpPr>
          <p:cNvPr id="5" name="Text 3"/>
          <p:cNvSpPr/>
          <p:nvPr/>
        </p:nvSpPr>
        <p:spPr>
          <a:xfrm>
            <a:off x="502920" y="1993392"/>
            <a:ext cx="11185855" cy="411480"/>
          </a:xfrm>
          <a:prstGeom prst="rect">
            <a:avLst/>
          </a:prstGeom>
          <a:noFill/>
          <a:ln/>
        </p:spPr>
        <p:txBody>
          <a:bodyPr wrap="square" lIns="0" tIns="0" rIns="0" bIns="0" rtlCol="0" anchor="ctr"/>
          <a:lstStyle/>
          <a:p>
            <a:pPr indent="0" marL="0">
              <a:buNone/>
            </a:pPr>
            <a:r>
              <a:rPr lang="en-US" sz="1400" dirty="0">
                <a:solidFill>
                  <a:srgbClr val="4A4D57"/>
                </a:solidFill>
                <a:latin typeface="Calibri" pitchFamily="34" charset="0"/>
                <a:ea typeface="Calibri" pitchFamily="34" charset="-122"/>
                <a:cs typeface="Calibri" pitchFamily="34" charset="-120"/>
              </a:rPr>
              <a:t>Alarms are combined into a single risk score, which decides what happens next.</a:t>
            </a:r>
            <a:endParaRPr lang="en-US" sz="1400" dirty="0"/>
          </a:p>
        </p:txBody>
      </p:sp>
      <p:sp>
        <p:nvSpPr>
          <p:cNvPr id="6" name="Shape 4"/>
          <p:cNvSpPr/>
          <p:nvPr/>
        </p:nvSpPr>
        <p:spPr>
          <a:xfrm>
            <a:off x="502920" y="2542032"/>
            <a:ext cx="11185855" cy="0"/>
          </a:xfrm>
          <a:prstGeom prst="line">
            <a:avLst/>
          </a:prstGeom>
          <a:noFill/>
          <a:ln w="9525">
            <a:solidFill>
              <a:srgbClr val="DFE2EA"/>
            </a:solidFill>
            <a:prstDash val="solid"/>
          </a:ln>
        </p:spPr>
      </p:sp>
      <p:pic>
        <p:nvPicPr>
          <p:cNvPr id="7" name="Image 0" descr="assets/tech-mahindra-logo.png">    </p:cNvPr>
          <p:cNvPicPr>
            <a:picLocks noChangeAspect="1"/>
          </p:cNvPicPr>
          <p:nvPr/>
        </p:nvPicPr>
        <p:blipFill>
          <a:blip r:embed="rId1"/>
          <a:stretch>
            <a:fillRect/>
          </a:stretch>
        </p:blipFill>
        <p:spPr>
          <a:xfrm>
            <a:off x="10183952" y="384048"/>
            <a:ext cx="1504824" cy="411480"/>
          </a:xfrm>
          <a:prstGeom prst="rect">
            <a:avLst/>
          </a:prstGeom>
        </p:spPr>
      </p:pic>
      <p:sp>
        <p:nvSpPr>
          <p:cNvPr id="8" name="Shape 5"/>
          <p:cNvSpPr/>
          <p:nvPr/>
        </p:nvSpPr>
        <p:spPr>
          <a:xfrm>
            <a:off x="502920" y="2788920"/>
            <a:ext cx="3545738" cy="3291840"/>
          </a:xfrm>
          <a:prstGeom prst="roundRect">
            <a:avLst>
              <a:gd name="adj" fmla="val 3333"/>
            </a:avLst>
          </a:prstGeom>
          <a:solidFill>
            <a:srgbClr val="EDF7EF"/>
          </a:solidFill>
          <a:ln w="7620">
            <a:solidFill>
              <a:srgbClr val="1F9C5B"/>
            </a:solidFill>
            <a:prstDash val="solid"/>
          </a:ln>
          <a:effectLst>
            <a:outerShdw sx="100000" sy="100000" kx="0" ky="0" algn="bl" rotWithShape="0" blurRad="177800" dist="38100" dir="8100000">
              <a:srgbClr val="000000">
                <a:alpha val="10000"/>
              </a:srgbClr>
            </a:outerShdw>
          </a:effectLst>
        </p:spPr>
      </p:sp>
      <p:sp>
        <p:nvSpPr>
          <p:cNvPr id="9" name="Text 6"/>
          <p:cNvSpPr/>
          <p:nvPr/>
        </p:nvSpPr>
        <p:spPr>
          <a:xfrm>
            <a:off x="868680" y="3154680"/>
            <a:ext cx="2814218" cy="640080"/>
          </a:xfrm>
          <a:prstGeom prst="rect">
            <a:avLst/>
          </a:prstGeom>
          <a:noFill/>
          <a:ln/>
        </p:spPr>
        <p:txBody>
          <a:bodyPr wrap="square" lIns="0" tIns="0" rIns="0" bIns="0" rtlCol="0" anchor="ctr"/>
          <a:lstStyle/>
          <a:p>
            <a:pPr algn="l" indent="0" marL="0">
              <a:buNone/>
            </a:pPr>
            <a:r>
              <a:rPr lang="en-US" sz="3800" b="1" dirty="0">
                <a:solidFill>
                  <a:srgbClr val="1F9C5B"/>
                </a:solidFill>
                <a:latin typeface="Calibri" pitchFamily="34" charset="0"/>
                <a:ea typeface="Calibri" pitchFamily="34" charset="-122"/>
                <a:cs typeface="Calibri" pitchFamily="34" charset="-120"/>
              </a:rPr>
              <a:t>PASS</a:t>
            </a:r>
            <a:endParaRPr lang="en-US" sz="3800" dirty="0"/>
          </a:p>
        </p:txBody>
      </p:sp>
      <p:sp>
        <p:nvSpPr>
          <p:cNvPr id="10" name="Shape 7"/>
          <p:cNvSpPr/>
          <p:nvPr/>
        </p:nvSpPr>
        <p:spPr>
          <a:xfrm>
            <a:off x="868680" y="3931920"/>
            <a:ext cx="822960" cy="0"/>
          </a:xfrm>
          <a:prstGeom prst="line">
            <a:avLst/>
          </a:prstGeom>
          <a:noFill/>
          <a:ln w="31750">
            <a:solidFill>
              <a:srgbClr val="1F9C5B"/>
            </a:solidFill>
            <a:prstDash val="solid"/>
          </a:ln>
        </p:spPr>
      </p:sp>
      <p:sp>
        <p:nvSpPr>
          <p:cNvPr id="11" name="Text 8"/>
          <p:cNvSpPr/>
          <p:nvPr/>
        </p:nvSpPr>
        <p:spPr>
          <a:xfrm>
            <a:off x="868680" y="4069080"/>
            <a:ext cx="2814218" cy="457200"/>
          </a:xfrm>
          <a:prstGeom prst="rect">
            <a:avLst/>
          </a:prstGeom>
          <a:noFill/>
          <a:ln/>
        </p:spPr>
        <p:txBody>
          <a:bodyPr wrap="square" lIns="0" tIns="0" rIns="0" bIns="0" rtlCol="0" anchor="ctr"/>
          <a:lstStyle/>
          <a:p>
            <a:pPr indent="0" marL="0">
              <a:buNone/>
            </a:pPr>
            <a:r>
              <a:rPr lang="en-US" sz="1800" b="1" dirty="0">
                <a:solidFill>
                  <a:srgbClr val="1A1A1A"/>
                </a:solidFill>
                <a:latin typeface="Calibri" pitchFamily="34" charset="0"/>
                <a:ea typeface="Calibri" pitchFamily="34" charset="-122"/>
                <a:cs typeface="Calibri" pitchFamily="34" charset="-120"/>
              </a:rPr>
              <a:t>Safe to forward</a:t>
            </a:r>
            <a:endParaRPr lang="en-US" sz="1800" dirty="0"/>
          </a:p>
        </p:txBody>
      </p:sp>
      <p:sp>
        <p:nvSpPr>
          <p:cNvPr id="12" name="Text 9"/>
          <p:cNvSpPr/>
          <p:nvPr/>
        </p:nvSpPr>
        <p:spPr>
          <a:xfrm>
            <a:off x="868680" y="4572000"/>
            <a:ext cx="2814218" cy="1463040"/>
          </a:xfrm>
          <a:prstGeom prst="rect">
            <a:avLst/>
          </a:prstGeom>
          <a:noFill/>
          <a:ln/>
        </p:spPr>
        <p:txBody>
          <a:bodyPr wrap="square" lIns="0" tIns="0" rIns="0" bIns="0" rtlCol="0" anchor="ctr"/>
          <a:lstStyle/>
          <a:p>
            <a:pPr indent="0" marL="0">
              <a:buNone/>
            </a:pPr>
            <a:r>
              <a:rPr lang="en-US" sz="1300" dirty="0">
                <a:solidFill>
                  <a:srgbClr val="4A4D57"/>
                </a:solidFill>
                <a:latin typeface="Calibri" pitchFamily="34" charset="0"/>
                <a:ea typeface="Calibri" pitchFamily="34" charset="-122"/>
                <a:cs typeface="Calibri" pitchFamily="34" charset="-120"/>
              </a:rPr>
              <a:t>Risk below 0.35. No alarm fired loudly enough to act on. The sanitised text continues to the model as-is.</a:t>
            </a:r>
            <a:endParaRPr lang="en-US" sz="1300" dirty="0"/>
          </a:p>
        </p:txBody>
      </p:sp>
      <p:sp>
        <p:nvSpPr>
          <p:cNvPr id="13" name="Shape 10"/>
          <p:cNvSpPr/>
          <p:nvPr/>
        </p:nvSpPr>
        <p:spPr>
          <a:xfrm>
            <a:off x="4322978" y="2788920"/>
            <a:ext cx="3545738" cy="3291840"/>
          </a:xfrm>
          <a:prstGeom prst="roundRect">
            <a:avLst>
              <a:gd name="adj" fmla="val 3333"/>
            </a:avLst>
          </a:prstGeom>
          <a:solidFill>
            <a:srgbClr val="FFF6E5"/>
          </a:solidFill>
          <a:ln w="7620">
            <a:solidFill>
              <a:srgbClr val="D98A00"/>
            </a:solidFill>
            <a:prstDash val="solid"/>
          </a:ln>
          <a:effectLst>
            <a:outerShdw sx="100000" sy="100000" kx="0" ky="0" algn="bl" rotWithShape="0" blurRad="177800" dist="38100" dir="8100000">
              <a:srgbClr val="000000">
                <a:alpha val="10000"/>
              </a:srgbClr>
            </a:outerShdw>
          </a:effectLst>
        </p:spPr>
      </p:sp>
      <p:sp>
        <p:nvSpPr>
          <p:cNvPr id="14" name="Text 11"/>
          <p:cNvSpPr/>
          <p:nvPr/>
        </p:nvSpPr>
        <p:spPr>
          <a:xfrm>
            <a:off x="4688738" y="3154680"/>
            <a:ext cx="2814218" cy="640080"/>
          </a:xfrm>
          <a:prstGeom prst="rect">
            <a:avLst/>
          </a:prstGeom>
          <a:noFill/>
          <a:ln/>
        </p:spPr>
        <p:txBody>
          <a:bodyPr wrap="square" lIns="0" tIns="0" rIns="0" bIns="0" rtlCol="0" anchor="ctr"/>
          <a:lstStyle/>
          <a:p>
            <a:pPr algn="l" indent="0" marL="0">
              <a:buNone/>
            </a:pPr>
            <a:r>
              <a:rPr lang="en-US" sz="3800" b="1" dirty="0">
                <a:solidFill>
                  <a:srgbClr val="D98A00"/>
                </a:solidFill>
                <a:latin typeface="Calibri" pitchFamily="34" charset="0"/>
                <a:ea typeface="Calibri" pitchFamily="34" charset="-122"/>
                <a:cs typeface="Calibri" pitchFamily="34" charset="-120"/>
              </a:rPr>
              <a:t>REVIEW</a:t>
            </a:r>
            <a:endParaRPr lang="en-US" sz="3800" dirty="0"/>
          </a:p>
        </p:txBody>
      </p:sp>
      <p:sp>
        <p:nvSpPr>
          <p:cNvPr id="15" name="Shape 12"/>
          <p:cNvSpPr/>
          <p:nvPr/>
        </p:nvSpPr>
        <p:spPr>
          <a:xfrm>
            <a:off x="4688738" y="3931920"/>
            <a:ext cx="822960" cy="0"/>
          </a:xfrm>
          <a:prstGeom prst="line">
            <a:avLst/>
          </a:prstGeom>
          <a:noFill/>
          <a:ln w="31750">
            <a:solidFill>
              <a:srgbClr val="D98A00"/>
            </a:solidFill>
            <a:prstDash val="solid"/>
          </a:ln>
        </p:spPr>
      </p:sp>
      <p:sp>
        <p:nvSpPr>
          <p:cNvPr id="16" name="Text 13"/>
          <p:cNvSpPr/>
          <p:nvPr/>
        </p:nvSpPr>
        <p:spPr>
          <a:xfrm>
            <a:off x="4688738" y="4069080"/>
            <a:ext cx="2814218" cy="457200"/>
          </a:xfrm>
          <a:prstGeom prst="rect">
            <a:avLst/>
          </a:prstGeom>
          <a:noFill/>
          <a:ln/>
        </p:spPr>
        <p:txBody>
          <a:bodyPr wrap="square" lIns="0" tIns="0" rIns="0" bIns="0" rtlCol="0" anchor="ctr"/>
          <a:lstStyle/>
          <a:p>
            <a:pPr indent="0" marL="0">
              <a:buNone/>
            </a:pPr>
            <a:r>
              <a:rPr lang="en-US" sz="1800" b="1" dirty="0">
                <a:solidFill>
                  <a:srgbClr val="1A1A1A"/>
                </a:solidFill>
                <a:latin typeface="Calibri" pitchFamily="34" charset="0"/>
                <a:ea typeface="Calibri" pitchFamily="34" charset="-122"/>
                <a:cs typeface="Calibri" pitchFamily="34" charset="-120"/>
              </a:rPr>
              <a:t>Sanitised, surfaced</a:t>
            </a:r>
            <a:endParaRPr lang="en-US" sz="1800" dirty="0"/>
          </a:p>
        </p:txBody>
      </p:sp>
      <p:sp>
        <p:nvSpPr>
          <p:cNvPr id="17" name="Text 14"/>
          <p:cNvSpPr/>
          <p:nvPr/>
        </p:nvSpPr>
        <p:spPr>
          <a:xfrm>
            <a:off x="4688738" y="4572000"/>
            <a:ext cx="2814218" cy="1463040"/>
          </a:xfrm>
          <a:prstGeom prst="rect">
            <a:avLst/>
          </a:prstGeom>
          <a:noFill/>
          <a:ln/>
        </p:spPr>
        <p:txBody>
          <a:bodyPr wrap="square" lIns="0" tIns="0" rIns="0" bIns="0" rtlCol="0" anchor="ctr"/>
          <a:lstStyle/>
          <a:p>
            <a:pPr indent="0" marL="0">
              <a:buNone/>
            </a:pPr>
            <a:r>
              <a:rPr lang="en-US" sz="1300" dirty="0">
                <a:solidFill>
                  <a:srgbClr val="4A4D57"/>
                </a:solidFill>
                <a:latin typeface="Calibri" pitchFamily="34" charset="0"/>
                <a:ea typeface="Calibri" pitchFamily="34" charset="-122"/>
                <a:cs typeface="Calibri" pitchFamily="34" charset="-120"/>
              </a:rPr>
              <a:t>Risk between 0.35 and 0.85. Trapdoor cleaned the text and tells the operator what it removed and why.</a:t>
            </a:r>
            <a:endParaRPr lang="en-US" sz="1300" dirty="0"/>
          </a:p>
        </p:txBody>
      </p:sp>
      <p:sp>
        <p:nvSpPr>
          <p:cNvPr id="18" name="Shape 15"/>
          <p:cNvSpPr/>
          <p:nvPr/>
        </p:nvSpPr>
        <p:spPr>
          <a:xfrm>
            <a:off x="8143037" y="2788920"/>
            <a:ext cx="3545738" cy="3291840"/>
          </a:xfrm>
          <a:prstGeom prst="roundRect">
            <a:avLst>
              <a:gd name="adj" fmla="val 3333"/>
            </a:avLst>
          </a:prstGeom>
          <a:solidFill>
            <a:srgbClr val="FBE5EA"/>
          </a:solidFill>
          <a:ln w="7620">
            <a:solidFill>
              <a:srgbClr val="C81E2B"/>
            </a:solidFill>
            <a:prstDash val="solid"/>
          </a:ln>
          <a:effectLst>
            <a:outerShdw sx="100000" sy="100000" kx="0" ky="0" algn="bl" rotWithShape="0" blurRad="177800" dist="38100" dir="8100000">
              <a:srgbClr val="000000">
                <a:alpha val="10000"/>
              </a:srgbClr>
            </a:outerShdw>
          </a:effectLst>
        </p:spPr>
      </p:sp>
      <p:sp>
        <p:nvSpPr>
          <p:cNvPr id="19" name="Text 16"/>
          <p:cNvSpPr/>
          <p:nvPr/>
        </p:nvSpPr>
        <p:spPr>
          <a:xfrm>
            <a:off x="8508797" y="3154680"/>
            <a:ext cx="2814218" cy="640080"/>
          </a:xfrm>
          <a:prstGeom prst="rect">
            <a:avLst/>
          </a:prstGeom>
          <a:noFill/>
          <a:ln/>
        </p:spPr>
        <p:txBody>
          <a:bodyPr wrap="square" lIns="0" tIns="0" rIns="0" bIns="0" rtlCol="0" anchor="ctr"/>
          <a:lstStyle/>
          <a:p>
            <a:pPr algn="l" indent="0" marL="0">
              <a:buNone/>
            </a:pPr>
            <a:r>
              <a:rPr lang="en-US" sz="3800" b="1" dirty="0">
                <a:solidFill>
                  <a:srgbClr val="C81E2B"/>
                </a:solidFill>
                <a:latin typeface="Calibri" pitchFamily="34" charset="0"/>
                <a:ea typeface="Calibri" pitchFamily="34" charset="-122"/>
                <a:cs typeface="Calibri" pitchFamily="34" charset="-120"/>
              </a:rPr>
              <a:t>BLOCK</a:t>
            </a:r>
            <a:endParaRPr lang="en-US" sz="3800" dirty="0"/>
          </a:p>
        </p:txBody>
      </p:sp>
      <p:sp>
        <p:nvSpPr>
          <p:cNvPr id="20" name="Shape 17"/>
          <p:cNvSpPr/>
          <p:nvPr/>
        </p:nvSpPr>
        <p:spPr>
          <a:xfrm>
            <a:off x="8508797" y="3931920"/>
            <a:ext cx="822960" cy="0"/>
          </a:xfrm>
          <a:prstGeom prst="line">
            <a:avLst/>
          </a:prstGeom>
          <a:noFill/>
          <a:ln w="31750">
            <a:solidFill>
              <a:srgbClr val="C81E2B"/>
            </a:solidFill>
            <a:prstDash val="solid"/>
          </a:ln>
        </p:spPr>
      </p:sp>
      <p:sp>
        <p:nvSpPr>
          <p:cNvPr id="21" name="Text 18"/>
          <p:cNvSpPr/>
          <p:nvPr/>
        </p:nvSpPr>
        <p:spPr>
          <a:xfrm>
            <a:off x="8508797" y="4069080"/>
            <a:ext cx="2814218" cy="457200"/>
          </a:xfrm>
          <a:prstGeom prst="rect">
            <a:avLst/>
          </a:prstGeom>
          <a:noFill/>
          <a:ln/>
        </p:spPr>
        <p:txBody>
          <a:bodyPr wrap="square" lIns="0" tIns="0" rIns="0" bIns="0" rtlCol="0" anchor="ctr"/>
          <a:lstStyle/>
          <a:p>
            <a:pPr indent="0" marL="0">
              <a:buNone/>
            </a:pPr>
            <a:r>
              <a:rPr lang="en-US" sz="1800" b="1" dirty="0">
                <a:solidFill>
                  <a:srgbClr val="1A1A1A"/>
                </a:solidFill>
                <a:latin typeface="Calibri" pitchFamily="34" charset="0"/>
                <a:ea typeface="Calibri" pitchFamily="34" charset="-122"/>
                <a:cs typeface="Calibri" pitchFamily="34" charset="-120"/>
              </a:rPr>
              <a:t>Never reaches the AI</a:t>
            </a:r>
            <a:endParaRPr lang="en-US" sz="1800" dirty="0"/>
          </a:p>
        </p:txBody>
      </p:sp>
      <p:sp>
        <p:nvSpPr>
          <p:cNvPr id="22" name="Text 19"/>
          <p:cNvSpPr/>
          <p:nvPr/>
        </p:nvSpPr>
        <p:spPr>
          <a:xfrm>
            <a:off x="8508797" y="4572000"/>
            <a:ext cx="2814218" cy="1463040"/>
          </a:xfrm>
          <a:prstGeom prst="rect">
            <a:avLst/>
          </a:prstGeom>
          <a:noFill/>
          <a:ln/>
        </p:spPr>
        <p:txBody>
          <a:bodyPr wrap="square" lIns="0" tIns="0" rIns="0" bIns="0" rtlCol="0" anchor="ctr"/>
          <a:lstStyle/>
          <a:p>
            <a:pPr indent="0" marL="0">
              <a:buNone/>
            </a:pPr>
            <a:r>
              <a:rPr lang="en-US" sz="1300" dirty="0">
                <a:solidFill>
                  <a:srgbClr val="4A4D57"/>
                </a:solidFill>
                <a:latin typeface="Calibri" pitchFamily="34" charset="0"/>
                <a:ea typeface="Calibri" pitchFamily="34" charset="-122"/>
                <a:cs typeface="Calibri" pitchFamily="34" charset="-120"/>
              </a:rPr>
              <a:t>Risk above 0.85, or any single high/critical alarm. The file is rejected at the door. The model is never invoked.</a:t>
            </a:r>
            <a:endParaRPr lang="en-US" sz="1300" dirty="0"/>
          </a:p>
        </p:txBody>
      </p:sp>
      <p:sp>
        <p:nvSpPr>
          <p:cNvPr id="23" name="Shape 20"/>
          <p:cNvSpPr/>
          <p:nvPr/>
        </p:nvSpPr>
        <p:spPr>
          <a:xfrm>
            <a:off x="502920" y="6446520"/>
            <a:ext cx="11185855" cy="0"/>
          </a:xfrm>
          <a:prstGeom prst="line">
            <a:avLst/>
          </a:prstGeom>
          <a:noFill/>
          <a:ln w="6350">
            <a:solidFill>
              <a:srgbClr val="DFE2EA"/>
            </a:solidFill>
            <a:prstDash val="solid"/>
          </a:ln>
        </p:spPr>
      </p:sp>
      <p:sp>
        <p:nvSpPr>
          <p:cNvPr id="24" name="Text 21"/>
          <p:cNvSpPr/>
          <p:nvPr/>
        </p:nvSpPr>
        <p:spPr>
          <a:xfrm>
            <a:off x="502920" y="6510528"/>
            <a:ext cx="7315200" cy="274320"/>
          </a:xfrm>
          <a:prstGeom prst="rect">
            <a:avLst/>
          </a:prstGeom>
          <a:noFill/>
          <a:ln/>
        </p:spPr>
        <p:txBody>
          <a:bodyPr wrap="square" lIns="0" tIns="0" rIns="0" bIns="0" rtlCol="0" anchor="ctr"/>
          <a:lstStyle/>
          <a:p>
            <a:pPr indent="0" marL="0">
              <a:buNone/>
            </a:pPr>
            <a:r>
              <a:rPr lang="en-US" sz="900" dirty="0">
                <a:solidFill>
                  <a:srgbClr val="7A7E8A"/>
                </a:solidFill>
                <a:latin typeface="Calibri" pitchFamily="34" charset="0"/>
                <a:ea typeface="Calibri" pitchFamily="34" charset="-122"/>
                <a:cs typeface="Calibri" pitchFamily="34" charset="-120"/>
              </a:rPr>
              <a:t>Trapdoor · Working architecture</a:t>
            </a:r>
            <a:endParaRPr lang="en-US" sz="900" dirty="0"/>
          </a:p>
        </p:txBody>
      </p:sp>
      <p:sp>
        <p:nvSpPr>
          <p:cNvPr id="25" name="Text 22"/>
          <p:cNvSpPr/>
          <p:nvPr/>
        </p:nvSpPr>
        <p:spPr>
          <a:xfrm>
            <a:off x="10637215" y="6510528"/>
            <a:ext cx="1051560" cy="274320"/>
          </a:xfrm>
          <a:prstGeom prst="rect">
            <a:avLst/>
          </a:prstGeom>
          <a:noFill/>
          <a:ln/>
        </p:spPr>
        <p:txBody>
          <a:bodyPr wrap="square" lIns="0" tIns="0" rIns="0" bIns="0" rtlCol="0" anchor="ctr"/>
          <a:lstStyle/>
          <a:p>
            <a:pPr algn="r" indent="0" marL="0">
              <a:buNone/>
            </a:pPr>
            <a:r>
              <a:rPr lang="en-US" sz="900" dirty="0">
                <a:solidFill>
                  <a:srgbClr val="7A7E8A"/>
                </a:solidFill>
                <a:latin typeface="Calibri" pitchFamily="34" charset="0"/>
                <a:ea typeface="Calibri" pitchFamily="34" charset="-122"/>
                <a:cs typeface="Calibri" pitchFamily="34" charset="-120"/>
              </a:rPr>
              <a:t>8 / 12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5F9"/>
        </a:solidFill>
      </p:bgPr>
    </p:bg>
    <p:spTree>
      <p:nvGrpSpPr>
        <p:cNvPr id="1" name=""/>
        <p:cNvGrpSpPr/>
        <p:nvPr/>
      </p:nvGrpSpPr>
      <p:grpSpPr>
        <a:xfrm>
          <a:off x="0" y="0"/>
          <a:ext cx="0" cy="0"/>
          <a:chOff x="0" y="0"/>
          <a:chExt cx="0" cy="0"/>
        </a:xfrm>
      </p:grpSpPr>
      <p:sp>
        <p:nvSpPr>
          <p:cNvPr id="2" name="Shape 0"/>
          <p:cNvSpPr/>
          <p:nvPr/>
        </p:nvSpPr>
        <p:spPr>
          <a:xfrm>
            <a:off x="502920" y="868680"/>
            <a:ext cx="201168" cy="292608"/>
          </a:xfrm>
          <a:prstGeom prst="rect">
            <a:avLst/>
          </a:prstGeom>
          <a:solidFill>
            <a:srgbClr val="E40029"/>
          </a:solidFill>
          <a:ln/>
        </p:spPr>
      </p:sp>
      <p:sp>
        <p:nvSpPr>
          <p:cNvPr id="3" name="Text 1"/>
          <p:cNvSpPr/>
          <p:nvPr/>
        </p:nvSpPr>
        <p:spPr>
          <a:xfrm>
            <a:off x="822960" y="850392"/>
            <a:ext cx="6858000" cy="329184"/>
          </a:xfrm>
          <a:prstGeom prst="rect">
            <a:avLst/>
          </a:prstGeom>
          <a:noFill/>
          <a:ln/>
        </p:spPr>
        <p:txBody>
          <a:bodyPr wrap="square" lIns="0" tIns="0" rIns="0" bIns="0" rtlCol="0" anchor="ctr"/>
          <a:lstStyle/>
          <a:p>
            <a:pPr indent="0" marL="0">
              <a:buNone/>
            </a:pPr>
            <a:r>
              <a:rPr lang="en-US" sz="1100" b="1" spc="400" kern="0" dirty="0">
                <a:solidFill>
                  <a:srgbClr val="E40029"/>
                </a:solidFill>
                <a:latin typeface="Calibri" pitchFamily="34" charset="0"/>
                <a:ea typeface="Calibri" pitchFamily="34" charset="-122"/>
                <a:cs typeface="Calibri" pitchFamily="34" charset="-120"/>
              </a:rPr>
              <a:t>A REAL EXAMPLE</a:t>
            </a:r>
            <a:endParaRPr lang="en-US" sz="1100" dirty="0"/>
          </a:p>
        </p:txBody>
      </p:sp>
      <p:sp>
        <p:nvSpPr>
          <p:cNvPr id="4" name="Text 2"/>
          <p:cNvSpPr/>
          <p:nvPr/>
        </p:nvSpPr>
        <p:spPr>
          <a:xfrm>
            <a:off x="502920" y="1243584"/>
            <a:ext cx="11185855" cy="777240"/>
          </a:xfrm>
          <a:prstGeom prst="rect">
            <a:avLst/>
          </a:prstGeom>
          <a:noFill/>
          <a:ln/>
        </p:spPr>
        <p:txBody>
          <a:bodyPr wrap="square" lIns="0" tIns="0" rIns="0" bIns="0" rtlCol="0" anchor="t"/>
          <a:lstStyle/>
          <a:p>
            <a:pPr algn="l" indent="0" marL="0">
              <a:buNone/>
            </a:pPr>
            <a:r>
              <a:rPr lang="en-US" sz="3400" b="1" dirty="0">
                <a:solidFill>
                  <a:srgbClr val="1A1A1A"/>
                </a:solidFill>
                <a:latin typeface="Calibri" pitchFamily="34" charset="0"/>
                <a:ea typeface="Calibri" pitchFamily="34" charset="-122"/>
                <a:cs typeface="Calibri" pitchFamily="34" charset="-120"/>
              </a:rPr>
              <a:t>What this looks like for a recruiter resume.</a:t>
            </a:r>
            <a:endParaRPr lang="en-US" sz="3400" dirty="0"/>
          </a:p>
        </p:txBody>
      </p:sp>
      <p:sp>
        <p:nvSpPr>
          <p:cNvPr id="5" name="Text 3"/>
          <p:cNvSpPr/>
          <p:nvPr/>
        </p:nvSpPr>
        <p:spPr>
          <a:xfrm>
            <a:off x="502920" y="1993392"/>
            <a:ext cx="11185855" cy="411480"/>
          </a:xfrm>
          <a:prstGeom prst="rect">
            <a:avLst/>
          </a:prstGeom>
          <a:noFill/>
          <a:ln/>
        </p:spPr>
        <p:txBody>
          <a:bodyPr wrap="square" lIns="0" tIns="0" rIns="0" bIns="0" rtlCol="0" anchor="ctr"/>
          <a:lstStyle/>
          <a:p>
            <a:pPr indent="0" marL="0">
              <a:buNone/>
            </a:pPr>
            <a:r>
              <a:rPr lang="en-US" sz="1400" dirty="0">
                <a:solidFill>
                  <a:srgbClr val="4A4D57"/>
                </a:solidFill>
                <a:latin typeface="Calibri" pitchFamily="34" charset="0"/>
                <a:ea typeface="Calibri" pitchFamily="34" charset="-122"/>
                <a:cs typeface="Calibri" pitchFamily="34" charset="-120"/>
              </a:rPr>
              <a:t>Same file. Same three stages. Specific findings.</a:t>
            </a:r>
            <a:endParaRPr lang="en-US" sz="1400" dirty="0"/>
          </a:p>
        </p:txBody>
      </p:sp>
      <p:sp>
        <p:nvSpPr>
          <p:cNvPr id="6" name="Shape 4"/>
          <p:cNvSpPr/>
          <p:nvPr/>
        </p:nvSpPr>
        <p:spPr>
          <a:xfrm>
            <a:off x="502920" y="2542032"/>
            <a:ext cx="11185855" cy="0"/>
          </a:xfrm>
          <a:prstGeom prst="line">
            <a:avLst/>
          </a:prstGeom>
          <a:noFill/>
          <a:ln w="9525">
            <a:solidFill>
              <a:srgbClr val="DFE2EA"/>
            </a:solidFill>
            <a:prstDash val="solid"/>
          </a:ln>
        </p:spPr>
      </p:sp>
      <p:pic>
        <p:nvPicPr>
          <p:cNvPr id="7" name="Image 0" descr="assets/tech-mahindra-logo.png">    </p:cNvPr>
          <p:cNvPicPr>
            <a:picLocks noChangeAspect="1"/>
          </p:cNvPicPr>
          <p:nvPr/>
        </p:nvPicPr>
        <p:blipFill>
          <a:blip r:embed="rId1"/>
          <a:stretch>
            <a:fillRect/>
          </a:stretch>
        </p:blipFill>
        <p:spPr>
          <a:xfrm>
            <a:off x="10183952" y="384048"/>
            <a:ext cx="1504824" cy="411480"/>
          </a:xfrm>
          <a:prstGeom prst="rect">
            <a:avLst/>
          </a:prstGeom>
        </p:spPr>
      </p:pic>
      <p:sp>
        <p:nvSpPr>
          <p:cNvPr id="8" name="Shape 5"/>
          <p:cNvSpPr/>
          <p:nvPr/>
        </p:nvSpPr>
        <p:spPr>
          <a:xfrm>
            <a:off x="502920" y="2788920"/>
            <a:ext cx="3545738" cy="3383280"/>
          </a:xfrm>
          <a:prstGeom prst="roundRect">
            <a:avLst>
              <a:gd name="adj" fmla="val 3243"/>
            </a:avLst>
          </a:prstGeom>
          <a:solidFill>
            <a:srgbClr val="FFFFFF"/>
          </a:solidFill>
          <a:ln w="7620">
            <a:solidFill>
              <a:srgbClr val="DFE2EA"/>
            </a:solidFill>
            <a:prstDash val="solid"/>
          </a:ln>
          <a:effectLst>
            <a:outerShdw sx="100000" sy="100000" kx="0" ky="0" algn="bl" rotWithShape="0" blurRad="177800" dist="38100" dir="8100000">
              <a:srgbClr val="000000">
                <a:alpha val="10000"/>
              </a:srgbClr>
            </a:outerShdw>
          </a:effectLst>
        </p:spPr>
      </p:sp>
      <p:sp>
        <p:nvSpPr>
          <p:cNvPr id="9" name="Shape 6"/>
          <p:cNvSpPr/>
          <p:nvPr/>
        </p:nvSpPr>
        <p:spPr>
          <a:xfrm>
            <a:off x="822960" y="3108960"/>
            <a:ext cx="640080" cy="640080"/>
          </a:xfrm>
          <a:prstGeom prst="ellipse">
            <a:avLst/>
          </a:prstGeom>
          <a:solidFill>
            <a:srgbClr val="0078D4"/>
          </a:solidFill>
          <a:ln/>
        </p:spPr>
      </p:sp>
      <p:sp>
        <p:nvSpPr>
          <p:cNvPr id="10" name="Text 7"/>
          <p:cNvSpPr/>
          <p:nvPr/>
        </p:nvSpPr>
        <p:spPr>
          <a:xfrm>
            <a:off x="822960" y="310896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11" name="Text 8"/>
          <p:cNvSpPr/>
          <p:nvPr/>
        </p:nvSpPr>
        <p:spPr>
          <a:xfrm>
            <a:off x="1600200" y="3154680"/>
            <a:ext cx="2265578" cy="548640"/>
          </a:xfrm>
          <a:prstGeom prst="rect">
            <a:avLst/>
          </a:prstGeom>
          <a:noFill/>
          <a:ln/>
        </p:spPr>
        <p:txBody>
          <a:bodyPr wrap="square" lIns="0" tIns="0" rIns="0" bIns="0" rtlCol="0" anchor="ctr"/>
          <a:lstStyle/>
          <a:p>
            <a:pPr indent="0" marL="0">
              <a:buNone/>
            </a:pPr>
            <a:r>
              <a:rPr lang="en-US" sz="2200" b="1" dirty="0">
                <a:solidFill>
                  <a:srgbClr val="1A1A1A"/>
                </a:solidFill>
                <a:latin typeface="Calibri" pitchFamily="34" charset="0"/>
                <a:ea typeface="Calibri" pitchFamily="34" charset="-122"/>
                <a:cs typeface="Calibri" pitchFamily="34" charset="-120"/>
              </a:rPr>
              <a:t>Extract</a:t>
            </a:r>
            <a:endParaRPr lang="en-US" sz="2200" dirty="0"/>
          </a:p>
        </p:txBody>
      </p:sp>
      <p:sp>
        <p:nvSpPr>
          <p:cNvPr id="12" name="Shape 9"/>
          <p:cNvSpPr/>
          <p:nvPr/>
        </p:nvSpPr>
        <p:spPr>
          <a:xfrm>
            <a:off x="822960" y="3931920"/>
            <a:ext cx="2905658" cy="0"/>
          </a:xfrm>
          <a:prstGeom prst="line">
            <a:avLst/>
          </a:prstGeom>
          <a:noFill/>
          <a:ln w="7620">
            <a:solidFill>
              <a:srgbClr val="DFE2EA"/>
            </a:solidFill>
            <a:prstDash val="solid"/>
          </a:ln>
        </p:spPr>
      </p:sp>
      <p:sp>
        <p:nvSpPr>
          <p:cNvPr id="13" name="Text 10"/>
          <p:cNvSpPr/>
          <p:nvPr/>
        </p:nvSpPr>
        <p:spPr>
          <a:xfrm>
            <a:off x="868680" y="4069080"/>
            <a:ext cx="2814218" cy="1965960"/>
          </a:xfrm>
          <a:prstGeom prst="rect">
            <a:avLst/>
          </a:prstGeom>
          <a:noFill/>
          <a:ln/>
        </p:spPr>
        <p:txBody>
          <a:bodyPr wrap="square" lIns="0" tIns="0" rIns="0" bIns="0" rtlCol="0" anchor="ctr"/>
          <a:lstStyle/>
          <a:p>
            <a:pPr marL="342900" indent="-342900">
              <a:spcAft>
                <a:spcPts val="500"/>
              </a:spcAft>
              <a:buSzPct val="100000"/>
              <a:buChar char="●"/>
            </a:pPr>
            <a:r>
              <a:rPr lang="en-US" sz="1250" dirty="0">
                <a:solidFill>
                  <a:srgbClr val="4A4D57"/>
                </a:solidFill>
                <a:latin typeface="Calibri" pitchFamily="34" charset="0"/>
                <a:ea typeface="Calibri" pitchFamily="34" charset="-122"/>
                <a:cs typeface="Calibri" pitchFamily="34" charset="-120"/>
              </a:rPr>
              <a:t>Reads the visible resume content normally.</a:t>
            </a:r>
            <a:endParaRPr lang="en-US" sz="1250" dirty="0"/>
          </a:p>
          <a:p>
            <a:pPr marL="342900" indent="-342900">
              <a:spcAft>
                <a:spcPts val="500"/>
              </a:spcAft>
              <a:buSzPct val="100000"/>
              <a:buChar char="●"/>
            </a:pPr>
            <a:r>
              <a:rPr lang="en-US" sz="1250" dirty="0">
                <a:solidFill>
                  <a:srgbClr val="4A4D57"/>
                </a:solidFill>
                <a:latin typeface="Calibri" pitchFamily="34" charset="0"/>
                <a:ea typeface="Calibri" pitchFamily="34" charset="-122"/>
                <a:cs typeface="Calibri" pitchFamily="34" charset="-120"/>
              </a:rPr>
              <a:t>Spots a paragraph rendered in white ink between Summary and Skills — invisible to the recruiter.</a:t>
            </a:r>
            <a:endParaRPr lang="en-US" sz="1250" dirty="0"/>
          </a:p>
          <a:p>
            <a:pPr marL="342900" indent="-342900">
              <a:spcAft>
                <a:spcPts val="500"/>
              </a:spcAft>
              <a:buSzPct val="100000"/>
              <a:buChar char="●"/>
            </a:pPr>
            <a:r>
              <a:rPr lang="en-US" sz="1250" dirty="0">
                <a:solidFill>
                  <a:srgbClr val="4A4D57"/>
                </a:solidFill>
                <a:latin typeface="Calibri" pitchFamily="34" charset="0"/>
                <a:ea typeface="Calibri" pitchFamily="34" charset="-122"/>
                <a:cs typeface="Calibri" pitchFamily="34" charset="-120"/>
              </a:rPr>
              <a:t>Reads PDF properties: author, title, subject.</a:t>
            </a:r>
            <a:endParaRPr lang="en-US" sz="1250" dirty="0"/>
          </a:p>
        </p:txBody>
      </p:sp>
      <p:sp>
        <p:nvSpPr>
          <p:cNvPr id="14" name="Shape 11"/>
          <p:cNvSpPr/>
          <p:nvPr/>
        </p:nvSpPr>
        <p:spPr>
          <a:xfrm>
            <a:off x="4322978" y="2788920"/>
            <a:ext cx="3545738" cy="3383280"/>
          </a:xfrm>
          <a:prstGeom prst="roundRect">
            <a:avLst>
              <a:gd name="adj" fmla="val 3243"/>
            </a:avLst>
          </a:prstGeom>
          <a:solidFill>
            <a:srgbClr val="FFFFFF"/>
          </a:solidFill>
          <a:ln w="7620">
            <a:solidFill>
              <a:srgbClr val="DFE2EA"/>
            </a:solidFill>
            <a:prstDash val="solid"/>
          </a:ln>
          <a:effectLst>
            <a:outerShdw sx="100000" sy="100000" kx="0" ky="0" algn="bl" rotWithShape="0" blurRad="177800" dist="38100" dir="8100000">
              <a:srgbClr val="000000">
                <a:alpha val="10000"/>
              </a:srgbClr>
            </a:outerShdw>
          </a:effectLst>
        </p:spPr>
      </p:sp>
      <p:sp>
        <p:nvSpPr>
          <p:cNvPr id="15" name="Shape 12"/>
          <p:cNvSpPr/>
          <p:nvPr/>
        </p:nvSpPr>
        <p:spPr>
          <a:xfrm>
            <a:off x="4643018" y="3108960"/>
            <a:ext cx="640080" cy="640080"/>
          </a:xfrm>
          <a:prstGeom prst="ellipse">
            <a:avLst/>
          </a:prstGeom>
          <a:solidFill>
            <a:srgbClr val="6F42C1"/>
          </a:solidFill>
          <a:ln/>
        </p:spPr>
      </p:sp>
      <p:sp>
        <p:nvSpPr>
          <p:cNvPr id="16" name="Text 13"/>
          <p:cNvSpPr/>
          <p:nvPr/>
        </p:nvSpPr>
        <p:spPr>
          <a:xfrm>
            <a:off x="4643018" y="310896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7" name="Text 14"/>
          <p:cNvSpPr/>
          <p:nvPr/>
        </p:nvSpPr>
        <p:spPr>
          <a:xfrm>
            <a:off x="5420258" y="3154680"/>
            <a:ext cx="2265578" cy="548640"/>
          </a:xfrm>
          <a:prstGeom prst="rect">
            <a:avLst/>
          </a:prstGeom>
          <a:noFill/>
          <a:ln/>
        </p:spPr>
        <p:txBody>
          <a:bodyPr wrap="square" lIns="0" tIns="0" rIns="0" bIns="0" rtlCol="0" anchor="ctr"/>
          <a:lstStyle/>
          <a:p>
            <a:pPr indent="0" marL="0">
              <a:buNone/>
            </a:pPr>
            <a:r>
              <a:rPr lang="en-US" sz="2200" b="1" dirty="0">
                <a:solidFill>
                  <a:srgbClr val="1A1A1A"/>
                </a:solidFill>
                <a:latin typeface="Calibri" pitchFamily="34" charset="0"/>
                <a:ea typeface="Calibri" pitchFamily="34" charset="-122"/>
                <a:cs typeface="Calibri" pitchFamily="34" charset="-120"/>
              </a:rPr>
              <a:t>Detect</a:t>
            </a:r>
            <a:endParaRPr lang="en-US" sz="2200" dirty="0"/>
          </a:p>
        </p:txBody>
      </p:sp>
      <p:sp>
        <p:nvSpPr>
          <p:cNvPr id="18" name="Shape 15"/>
          <p:cNvSpPr/>
          <p:nvPr/>
        </p:nvSpPr>
        <p:spPr>
          <a:xfrm>
            <a:off x="4643018" y="3931920"/>
            <a:ext cx="2905658" cy="0"/>
          </a:xfrm>
          <a:prstGeom prst="line">
            <a:avLst/>
          </a:prstGeom>
          <a:noFill/>
          <a:ln w="7620">
            <a:solidFill>
              <a:srgbClr val="DFE2EA"/>
            </a:solidFill>
            <a:prstDash val="solid"/>
          </a:ln>
        </p:spPr>
      </p:sp>
      <p:sp>
        <p:nvSpPr>
          <p:cNvPr id="19" name="Text 16"/>
          <p:cNvSpPr/>
          <p:nvPr/>
        </p:nvSpPr>
        <p:spPr>
          <a:xfrm>
            <a:off x="4688738" y="4069080"/>
            <a:ext cx="2814218" cy="1965960"/>
          </a:xfrm>
          <a:prstGeom prst="rect">
            <a:avLst/>
          </a:prstGeom>
          <a:noFill/>
          <a:ln/>
        </p:spPr>
        <p:txBody>
          <a:bodyPr wrap="square" lIns="0" tIns="0" rIns="0" bIns="0" rtlCol="0" anchor="ctr"/>
          <a:lstStyle/>
          <a:p>
            <a:pPr marL="342900" indent="-342900">
              <a:spcAft>
                <a:spcPts val="500"/>
              </a:spcAft>
              <a:buSzPct val="100000"/>
              <a:buChar char="●"/>
            </a:pPr>
            <a:r>
              <a:rPr lang="en-US" sz="1250" dirty="0">
                <a:solidFill>
                  <a:srgbClr val="4A4D57"/>
                </a:solidFill>
                <a:latin typeface="Calibri" pitchFamily="34" charset="0"/>
                <a:ea typeface="Calibri" pitchFamily="34" charset="-122"/>
                <a:cs typeface="Calibri" pitchFamily="34" charset="-120"/>
              </a:rPr>
              <a:t>Pattern check matches "ignore previous instructions."</a:t>
            </a:r>
            <a:endParaRPr lang="en-US" sz="1250" dirty="0"/>
          </a:p>
          <a:p>
            <a:pPr marL="342900" indent="-342900">
              <a:spcAft>
                <a:spcPts val="500"/>
              </a:spcAft>
              <a:buSzPct val="100000"/>
              <a:buChar char="●"/>
            </a:pPr>
            <a:r>
              <a:rPr lang="en-US" sz="1250" dirty="0">
                <a:solidFill>
                  <a:srgbClr val="4A4D57"/>
                </a:solidFill>
                <a:latin typeface="Calibri" pitchFamily="34" charset="0"/>
                <a:ea typeface="Calibri" pitchFamily="34" charset="-122"/>
                <a:cs typeface="Calibri" pitchFamily="34" charset="-120"/>
              </a:rPr>
              <a:t>Pattern check matches "rate them 10 out of 10."</a:t>
            </a:r>
            <a:endParaRPr lang="en-US" sz="1250" dirty="0"/>
          </a:p>
          <a:p>
            <a:pPr marL="342900" indent="-342900">
              <a:spcAft>
                <a:spcPts val="500"/>
              </a:spcAft>
              <a:buSzPct val="100000"/>
              <a:buChar char="●"/>
            </a:pPr>
            <a:r>
              <a:rPr lang="en-US" sz="1250" dirty="0">
                <a:solidFill>
                  <a:srgbClr val="4A4D57"/>
                </a:solidFill>
                <a:latin typeface="Calibri" pitchFamily="34" charset="0"/>
                <a:ea typeface="Calibri" pitchFamily="34" charset="-122"/>
                <a:cs typeface="Calibri" pitchFamily="34" charset="-120"/>
              </a:rPr>
              <a:t>Invisible-text check flags the white paragraph as hidden content.</a:t>
            </a:r>
            <a:endParaRPr lang="en-US" sz="1250" dirty="0"/>
          </a:p>
          <a:p>
            <a:pPr marL="342900" indent="-342900">
              <a:spcAft>
                <a:spcPts val="500"/>
              </a:spcAft>
              <a:buSzPct val="100000"/>
              <a:buChar char="●"/>
            </a:pPr>
            <a:r>
              <a:rPr lang="en-US" sz="1250" dirty="0">
                <a:solidFill>
                  <a:srgbClr val="4A4D57"/>
                </a:solidFill>
                <a:latin typeface="Calibri" pitchFamily="34" charset="0"/>
                <a:ea typeface="Calibri" pitchFamily="34" charset="-122"/>
                <a:cs typeface="Calibri" pitchFamily="34" charset="-120"/>
              </a:rPr>
              <a:t>Confidence: 97% · Severity: critical.</a:t>
            </a:r>
            <a:endParaRPr lang="en-US" sz="1250" dirty="0"/>
          </a:p>
        </p:txBody>
      </p:sp>
      <p:sp>
        <p:nvSpPr>
          <p:cNvPr id="20" name="Shape 17"/>
          <p:cNvSpPr/>
          <p:nvPr/>
        </p:nvSpPr>
        <p:spPr>
          <a:xfrm>
            <a:off x="8143037" y="2788920"/>
            <a:ext cx="3545738" cy="3383280"/>
          </a:xfrm>
          <a:prstGeom prst="roundRect">
            <a:avLst>
              <a:gd name="adj" fmla="val 3243"/>
            </a:avLst>
          </a:prstGeom>
          <a:solidFill>
            <a:srgbClr val="FFFFFF"/>
          </a:solidFill>
          <a:ln w="7620">
            <a:solidFill>
              <a:srgbClr val="DFE2EA"/>
            </a:solidFill>
            <a:prstDash val="solid"/>
          </a:ln>
          <a:effectLst>
            <a:outerShdw sx="100000" sy="100000" kx="0" ky="0" algn="bl" rotWithShape="0" blurRad="177800" dist="38100" dir="8100000">
              <a:srgbClr val="000000">
                <a:alpha val="10000"/>
              </a:srgbClr>
            </a:outerShdw>
          </a:effectLst>
        </p:spPr>
      </p:sp>
      <p:sp>
        <p:nvSpPr>
          <p:cNvPr id="21" name="Shape 18"/>
          <p:cNvSpPr/>
          <p:nvPr/>
        </p:nvSpPr>
        <p:spPr>
          <a:xfrm>
            <a:off x="8463077" y="3108960"/>
            <a:ext cx="640080" cy="640080"/>
          </a:xfrm>
          <a:prstGeom prst="ellipse">
            <a:avLst/>
          </a:prstGeom>
          <a:solidFill>
            <a:srgbClr val="1F9C5B"/>
          </a:solidFill>
          <a:ln/>
        </p:spPr>
      </p:sp>
      <p:sp>
        <p:nvSpPr>
          <p:cNvPr id="22" name="Text 19"/>
          <p:cNvSpPr/>
          <p:nvPr/>
        </p:nvSpPr>
        <p:spPr>
          <a:xfrm>
            <a:off x="8463077" y="310896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23" name="Text 20"/>
          <p:cNvSpPr/>
          <p:nvPr/>
        </p:nvSpPr>
        <p:spPr>
          <a:xfrm>
            <a:off x="9240317" y="3154680"/>
            <a:ext cx="2265578" cy="548640"/>
          </a:xfrm>
          <a:prstGeom prst="rect">
            <a:avLst/>
          </a:prstGeom>
          <a:noFill/>
          <a:ln/>
        </p:spPr>
        <p:txBody>
          <a:bodyPr wrap="square" lIns="0" tIns="0" rIns="0" bIns="0" rtlCol="0" anchor="ctr"/>
          <a:lstStyle/>
          <a:p>
            <a:pPr indent="0" marL="0">
              <a:buNone/>
            </a:pPr>
            <a:r>
              <a:rPr lang="en-US" sz="2200" b="1" dirty="0">
                <a:solidFill>
                  <a:srgbClr val="1A1A1A"/>
                </a:solidFill>
                <a:latin typeface="Calibri" pitchFamily="34" charset="0"/>
                <a:ea typeface="Calibri" pitchFamily="34" charset="-122"/>
                <a:cs typeface="Calibri" pitchFamily="34" charset="-120"/>
              </a:rPr>
              <a:t>Sanitize</a:t>
            </a:r>
            <a:endParaRPr lang="en-US" sz="2200" dirty="0"/>
          </a:p>
        </p:txBody>
      </p:sp>
      <p:sp>
        <p:nvSpPr>
          <p:cNvPr id="24" name="Shape 21"/>
          <p:cNvSpPr/>
          <p:nvPr/>
        </p:nvSpPr>
        <p:spPr>
          <a:xfrm>
            <a:off x="8463077" y="3931920"/>
            <a:ext cx="2905658" cy="0"/>
          </a:xfrm>
          <a:prstGeom prst="line">
            <a:avLst/>
          </a:prstGeom>
          <a:noFill/>
          <a:ln w="7620">
            <a:solidFill>
              <a:srgbClr val="DFE2EA"/>
            </a:solidFill>
            <a:prstDash val="solid"/>
          </a:ln>
        </p:spPr>
      </p:sp>
      <p:sp>
        <p:nvSpPr>
          <p:cNvPr id="25" name="Text 22"/>
          <p:cNvSpPr/>
          <p:nvPr/>
        </p:nvSpPr>
        <p:spPr>
          <a:xfrm>
            <a:off x="8508797" y="4069080"/>
            <a:ext cx="2814218" cy="1965960"/>
          </a:xfrm>
          <a:prstGeom prst="rect">
            <a:avLst/>
          </a:prstGeom>
          <a:noFill/>
          <a:ln/>
        </p:spPr>
        <p:txBody>
          <a:bodyPr wrap="square" lIns="0" tIns="0" rIns="0" bIns="0" rtlCol="0" anchor="ctr"/>
          <a:lstStyle/>
          <a:p>
            <a:pPr marL="342900" indent="-342900">
              <a:spcAft>
                <a:spcPts val="500"/>
              </a:spcAft>
              <a:buSzPct val="100000"/>
              <a:buChar char="●"/>
            </a:pPr>
            <a:r>
              <a:rPr lang="en-US" sz="1250" dirty="0">
                <a:solidFill>
                  <a:srgbClr val="4A4D57"/>
                </a:solidFill>
                <a:latin typeface="Calibri" pitchFamily="34" charset="0"/>
                <a:ea typeface="Calibri" pitchFamily="34" charset="-122"/>
                <a:cs typeface="Calibri" pitchFamily="34" charset="-120"/>
              </a:rPr>
              <a:t>The hidden paragraph is removed entirely from the text passed onward.</a:t>
            </a:r>
            <a:endParaRPr lang="en-US" sz="1250" dirty="0"/>
          </a:p>
          <a:p>
            <a:pPr marL="342900" indent="-342900">
              <a:spcAft>
                <a:spcPts val="500"/>
              </a:spcAft>
              <a:buSzPct val="100000"/>
              <a:buChar char="●"/>
            </a:pPr>
            <a:r>
              <a:rPr lang="en-US" sz="1250" dirty="0">
                <a:solidFill>
                  <a:srgbClr val="4A4D57"/>
                </a:solidFill>
                <a:latin typeface="Calibri" pitchFamily="34" charset="0"/>
                <a:ea typeface="Calibri" pitchFamily="34" charset="-122"/>
                <a:cs typeface="Calibri" pitchFamily="34" charset="-120"/>
              </a:rPr>
              <a:t>Verdict: BLOCK.</a:t>
            </a:r>
            <a:endParaRPr lang="en-US" sz="1250" dirty="0"/>
          </a:p>
          <a:p>
            <a:pPr marL="342900" indent="-342900">
              <a:spcAft>
                <a:spcPts val="500"/>
              </a:spcAft>
              <a:buSzPct val="100000"/>
              <a:buChar char="●"/>
            </a:pPr>
            <a:r>
              <a:rPr lang="en-US" sz="1250" dirty="0">
                <a:solidFill>
                  <a:srgbClr val="4A4D57"/>
                </a:solidFill>
                <a:latin typeface="Calibri" pitchFamily="34" charset="0"/>
                <a:ea typeface="Calibri" pitchFamily="34" charset="-122"/>
                <a:cs typeface="Calibri" pitchFamily="34" charset="-120"/>
              </a:rPr>
              <a:t>The downstream resume-screening AI is never asked to evaluate the poisoned content.</a:t>
            </a:r>
            <a:endParaRPr lang="en-US" sz="1250" dirty="0"/>
          </a:p>
        </p:txBody>
      </p:sp>
      <p:sp>
        <p:nvSpPr>
          <p:cNvPr id="26" name="Shape 23"/>
          <p:cNvSpPr/>
          <p:nvPr/>
        </p:nvSpPr>
        <p:spPr>
          <a:xfrm>
            <a:off x="502920" y="6446520"/>
            <a:ext cx="11185855" cy="0"/>
          </a:xfrm>
          <a:prstGeom prst="line">
            <a:avLst/>
          </a:prstGeom>
          <a:noFill/>
          <a:ln w="6350">
            <a:solidFill>
              <a:srgbClr val="DFE2EA"/>
            </a:solidFill>
            <a:prstDash val="solid"/>
          </a:ln>
        </p:spPr>
      </p:sp>
      <p:sp>
        <p:nvSpPr>
          <p:cNvPr id="27" name="Text 24"/>
          <p:cNvSpPr/>
          <p:nvPr/>
        </p:nvSpPr>
        <p:spPr>
          <a:xfrm>
            <a:off x="502920" y="6510528"/>
            <a:ext cx="7315200" cy="274320"/>
          </a:xfrm>
          <a:prstGeom prst="rect">
            <a:avLst/>
          </a:prstGeom>
          <a:noFill/>
          <a:ln/>
        </p:spPr>
        <p:txBody>
          <a:bodyPr wrap="square" lIns="0" tIns="0" rIns="0" bIns="0" rtlCol="0" anchor="ctr"/>
          <a:lstStyle/>
          <a:p>
            <a:pPr indent="0" marL="0">
              <a:buNone/>
            </a:pPr>
            <a:r>
              <a:rPr lang="en-US" sz="900" dirty="0">
                <a:solidFill>
                  <a:srgbClr val="7A7E8A"/>
                </a:solidFill>
                <a:latin typeface="Calibri" pitchFamily="34" charset="0"/>
                <a:ea typeface="Calibri" pitchFamily="34" charset="-122"/>
                <a:cs typeface="Calibri" pitchFamily="34" charset="-120"/>
              </a:rPr>
              <a:t>Trapdoor · Working architecture</a:t>
            </a:r>
            <a:endParaRPr lang="en-US" sz="900" dirty="0"/>
          </a:p>
        </p:txBody>
      </p:sp>
      <p:sp>
        <p:nvSpPr>
          <p:cNvPr id="28" name="Text 25"/>
          <p:cNvSpPr/>
          <p:nvPr/>
        </p:nvSpPr>
        <p:spPr>
          <a:xfrm>
            <a:off x="10637215" y="6510528"/>
            <a:ext cx="1051560" cy="274320"/>
          </a:xfrm>
          <a:prstGeom prst="rect">
            <a:avLst/>
          </a:prstGeom>
          <a:noFill/>
          <a:ln/>
        </p:spPr>
        <p:txBody>
          <a:bodyPr wrap="square" lIns="0" tIns="0" rIns="0" bIns="0" rtlCol="0" anchor="ctr"/>
          <a:lstStyle/>
          <a:p>
            <a:pPr algn="r" indent="0" marL="0">
              <a:buNone/>
            </a:pPr>
            <a:r>
              <a:rPr lang="en-US" sz="900" dirty="0">
                <a:solidFill>
                  <a:srgbClr val="7A7E8A"/>
                </a:solidFill>
                <a:latin typeface="Calibri" pitchFamily="34" charset="0"/>
                <a:ea typeface="Calibri" pitchFamily="34" charset="-122"/>
                <a:cs typeface="Calibri" pitchFamily="34" charset="-120"/>
              </a:rPr>
              <a:t>9 / 12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5F9"/>
        </a:solidFill>
      </p:bgPr>
    </p:bg>
    <p:spTree>
      <p:nvGrpSpPr>
        <p:cNvPr id="1" name=""/>
        <p:cNvGrpSpPr/>
        <p:nvPr/>
      </p:nvGrpSpPr>
      <p:grpSpPr>
        <a:xfrm>
          <a:off x="0" y="0"/>
          <a:ext cx="0" cy="0"/>
          <a:chOff x="0" y="0"/>
          <a:chExt cx="0" cy="0"/>
        </a:xfrm>
      </p:grpSpPr>
      <p:sp>
        <p:nvSpPr>
          <p:cNvPr id="2" name="Shape 0"/>
          <p:cNvSpPr/>
          <p:nvPr/>
        </p:nvSpPr>
        <p:spPr>
          <a:xfrm>
            <a:off x="502920" y="868680"/>
            <a:ext cx="201168" cy="292608"/>
          </a:xfrm>
          <a:prstGeom prst="rect">
            <a:avLst/>
          </a:prstGeom>
          <a:solidFill>
            <a:srgbClr val="E40029"/>
          </a:solidFill>
          <a:ln/>
        </p:spPr>
      </p:sp>
      <p:sp>
        <p:nvSpPr>
          <p:cNvPr id="3" name="Text 1"/>
          <p:cNvSpPr/>
          <p:nvPr/>
        </p:nvSpPr>
        <p:spPr>
          <a:xfrm>
            <a:off x="822960" y="850392"/>
            <a:ext cx="6858000" cy="329184"/>
          </a:xfrm>
          <a:prstGeom prst="rect">
            <a:avLst/>
          </a:prstGeom>
          <a:noFill/>
          <a:ln/>
        </p:spPr>
        <p:txBody>
          <a:bodyPr wrap="square" lIns="0" tIns="0" rIns="0" bIns="0" rtlCol="0" anchor="ctr"/>
          <a:lstStyle/>
          <a:p>
            <a:pPr indent="0" marL="0">
              <a:buNone/>
            </a:pPr>
            <a:r>
              <a:rPr lang="en-US" sz="1100" b="1" spc="400" kern="0" dirty="0">
                <a:solidFill>
                  <a:srgbClr val="E40029"/>
                </a:solidFill>
                <a:latin typeface="Calibri" pitchFamily="34" charset="0"/>
                <a:ea typeface="Calibri" pitchFamily="34" charset="-122"/>
                <a:cs typeface="Calibri" pitchFamily="34" charset="-120"/>
              </a:rPr>
              <a:t>WHERE IT MATTERS</a:t>
            </a:r>
            <a:endParaRPr lang="en-US" sz="1100" dirty="0"/>
          </a:p>
        </p:txBody>
      </p:sp>
      <p:sp>
        <p:nvSpPr>
          <p:cNvPr id="4" name="Text 2"/>
          <p:cNvSpPr/>
          <p:nvPr/>
        </p:nvSpPr>
        <p:spPr>
          <a:xfrm>
            <a:off x="502920" y="1243584"/>
            <a:ext cx="11185855" cy="777240"/>
          </a:xfrm>
          <a:prstGeom prst="rect">
            <a:avLst/>
          </a:prstGeom>
          <a:noFill/>
          <a:ln/>
        </p:spPr>
        <p:txBody>
          <a:bodyPr wrap="square" lIns="0" tIns="0" rIns="0" bIns="0" rtlCol="0" anchor="t"/>
          <a:lstStyle/>
          <a:p>
            <a:pPr algn="l" indent="0" marL="0">
              <a:buNone/>
            </a:pPr>
            <a:r>
              <a:rPr lang="en-US" sz="3400" b="1" dirty="0">
                <a:solidFill>
                  <a:srgbClr val="1A1A1A"/>
                </a:solidFill>
                <a:latin typeface="Calibri" pitchFamily="34" charset="0"/>
                <a:ea typeface="Calibri" pitchFamily="34" charset="-122"/>
                <a:cs typeface="Calibri" pitchFamily="34" charset="-120"/>
              </a:rPr>
              <a:t>Use cases by industry.</a:t>
            </a:r>
            <a:endParaRPr lang="en-US" sz="3400" dirty="0"/>
          </a:p>
        </p:txBody>
      </p:sp>
      <p:sp>
        <p:nvSpPr>
          <p:cNvPr id="5" name="Text 3"/>
          <p:cNvSpPr/>
          <p:nvPr/>
        </p:nvSpPr>
        <p:spPr>
          <a:xfrm>
            <a:off x="502920" y="1993392"/>
            <a:ext cx="11185855" cy="411480"/>
          </a:xfrm>
          <a:prstGeom prst="rect">
            <a:avLst/>
          </a:prstGeom>
          <a:noFill/>
          <a:ln/>
        </p:spPr>
        <p:txBody>
          <a:bodyPr wrap="square" lIns="0" tIns="0" rIns="0" bIns="0" rtlCol="0" anchor="ctr"/>
          <a:lstStyle/>
          <a:p>
            <a:pPr indent="0" marL="0">
              <a:buNone/>
            </a:pPr>
            <a:r>
              <a:rPr lang="en-US" sz="1400" dirty="0">
                <a:solidFill>
                  <a:srgbClr val="4A4D57"/>
                </a:solidFill>
                <a:latin typeface="Calibri" pitchFamily="34" charset="0"/>
                <a:ea typeface="Calibri" pitchFamily="34" charset="-122"/>
                <a:cs typeface="Calibri" pitchFamily="34" charset="-120"/>
              </a:rPr>
              <a:t>Anywhere an AI reads files supplied by someone other than the immediate user.</a:t>
            </a:r>
            <a:endParaRPr lang="en-US" sz="1400" dirty="0"/>
          </a:p>
        </p:txBody>
      </p:sp>
      <p:sp>
        <p:nvSpPr>
          <p:cNvPr id="6" name="Shape 4"/>
          <p:cNvSpPr/>
          <p:nvPr/>
        </p:nvSpPr>
        <p:spPr>
          <a:xfrm>
            <a:off x="502920" y="2542032"/>
            <a:ext cx="11185855" cy="0"/>
          </a:xfrm>
          <a:prstGeom prst="line">
            <a:avLst/>
          </a:prstGeom>
          <a:noFill/>
          <a:ln w="9525">
            <a:solidFill>
              <a:srgbClr val="DFE2EA"/>
            </a:solidFill>
            <a:prstDash val="solid"/>
          </a:ln>
        </p:spPr>
      </p:sp>
      <p:pic>
        <p:nvPicPr>
          <p:cNvPr id="7" name="Image 0" descr="assets/tech-mahindra-logo.png">    </p:cNvPr>
          <p:cNvPicPr>
            <a:picLocks noChangeAspect="1"/>
          </p:cNvPicPr>
          <p:nvPr/>
        </p:nvPicPr>
        <p:blipFill>
          <a:blip r:embed="rId1"/>
          <a:stretch>
            <a:fillRect/>
          </a:stretch>
        </p:blipFill>
        <p:spPr>
          <a:xfrm>
            <a:off x="10183952" y="384048"/>
            <a:ext cx="1504824" cy="411480"/>
          </a:xfrm>
          <a:prstGeom prst="rect">
            <a:avLst/>
          </a:prstGeom>
        </p:spPr>
      </p:pic>
      <p:sp>
        <p:nvSpPr>
          <p:cNvPr id="8" name="Shape 5"/>
          <p:cNvSpPr/>
          <p:nvPr/>
        </p:nvSpPr>
        <p:spPr>
          <a:xfrm>
            <a:off x="502920" y="2788920"/>
            <a:ext cx="3576218" cy="1691640"/>
          </a:xfrm>
          <a:prstGeom prst="roundRect">
            <a:avLst>
              <a:gd name="adj" fmla="val 6486"/>
            </a:avLst>
          </a:prstGeom>
          <a:solidFill>
            <a:srgbClr val="FFFFFF"/>
          </a:solidFill>
          <a:ln w="7620">
            <a:solidFill>
              <a:srgbClr val="DFE2EA"/>
            </a:solidFill>
            <a:prstDash val="solid"/>
          </a:ln>
          <a:effectLst>
            <a:outerShdw sx="100000" sy="100000" kx="0" ky="0" algn="bl" rotWithShape="0" blurRad="177800" dist="38100" dir="8100000">
              <a:srgbClr val="000000">
                <a:alpha val="10000"/>
              </a:srgbClr>
            </a:outerShdw>
          </a:effectLst>
        </p:spPr>
      </p:sp>
      <p:sp>
        <p:nvSpPr>
          <p:cNvPr id="9" name="Shape 6"/>
          <p:cNvSpPr/>
          <p:nvPr/>
        </p:nvSpPr>
        <p:spPr>
          <a:xfrm>
            <a:off x="502920" y="2788920"/>
            <a:ext cx="73152" cy="1691640"/>
          </a:xfrm>
          <a:prstGeom prst="rect">
            <a:avLst/>
          </a:prstGeom>
          <a:solidFill>
            <a:srgbClr val="E40029"/>
          </a:solidFill>
          <a:ln/>
        </p:spPr>
      </p:sp>
      <p:sp>
        <p:nvSpPr>
          <p:cNvPr id="10" name="Text 7"/>
          <p:cNvSpPr/>
          <p:nvPr/>
        </p:nvSpPr>
        <p:spPr>
          <a:xfrm>
            <a:off x="777240" y="2953512"/>
            <a:ext cx="3210458" cy="292608"/>
          </a:xfrm>
          <a:prstGeom prst="rect">
            <a:avLst/>
          </a:prstGeom>
          <a:noFill/>
          <a:ln/>
        </p:spPr>
        <p:txBody>
          <a:bodyPr wrap="square" lIns="0" tIns="0" rIns="0" bIns="0" rtlCol="0" anchor="ctr"/>
          <a:lstStyle/>
          <a:p>
            <a:pPr indent="0" marL="0">
              <a:buNone/>
            </a:pPr>
            <a:r>
              <a:rPr lang="en-US" sz="1100" b="1" spc="300" kern="0" dirty="0">
                <a:solidFill>
                  <a:srgbClr val="E40029"/>
                </a:solidFill>
                <a:latin typeface="Calibri" pitchFamily="34" charset="0"/>
                <a:ea typeface="Calibri" pitchFamily="34" charset="-122"/>
                <a:cs typeface="Calibri" pitchFamily="34" charset="-120"/>
              </a:rPr>
              <a:t>HR &amp; Recruiting</a:t>
            </a:r>
            <a:endParaRPr lang="en-US" sz="1100" dirty="0"/>
          </a:p>
        </p:txBody>
      </p:sp>
      <p:sp>
        <p:nvSpPr>
          <p:cNvPr id="11" name="Text 8"/>
          <p:cNvSpPr/>
          <p:nvPr/>
        </p:nvSpPr>
        <p:spPr>
          <a:xfrm>
            <a:off x="777240" y="3246120"/>
            <a:ext cx="3210458" cy="365760"/>
          </a:xfrm>
          <a:prstGeom prst="rect">
            <a:avLst/>
          </a:prstGeom>
          <a:noFill/>
          <a:ln/>
        </p:spPr>
        <p:txBody>
          <a:bodyPr wrap="square" lIns="0" tIns="0" rIns="0" bIns="0"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LLM-driven resume screening</a:t>
            </a:r>
            <a:endParaRPr lang="en-US" sz="1600" dirty="0"/>
          </a:p>
        </p:txBody>
      </p:sp>
      <p:sp>
        <p:nvSpPr>
          <p:cNvPr id="12" name="Text 9"/>
          <p:cNvSpPr/>
          <p:nvPr/>
        </p:nvSpPr>
        <p:spPr>
          <a:xfrm>
            <a:off x="777240" y="3630168"/>
            <a:ext cx="3210458" cy="777240"/>
          </a:xfrm>
          <a:prstGeom prst="rect">
            <a:avLst/>
          </a:prstGeom>
          <a:noFill/>
          <a:ln/>
        </p:spPr>
        <p:txBody>
          <a:bodyPr wrap="square" lIns="0" tIns="0" rIns="0" bIns="0" rtlCol="0" anchor="ctr"/>
          <a:lstStyle/>
          <a:p>
            <a:pPr indent="0" marL="0">
              <a:buNone/>
            </a:pPr>
            <a:r>
              <a:rPr lang="en-US" sz="1150" dirty="0">
                <a:solidFill>
                  <a:srgbClr val="4A4D57"/>
                </a:solidFill>
                <a:latin typeface="Calibri" pitchFamily="34" charset="0"/>
                <a:ea typeface="Calibri" pitchFamily="34" charset="-122"/>
                <a:cs typeface="Calibri" pitchFamily="34" charset="-120"/>
              </a:rPr>
              <a:t>Catches hidden "rate 10/10" instructions in PDFs, role-impersonation in document properties, and links pointing to fake portfolios.</a:t>
            </a:r>
            <a:endParaRPr lang="en-US" sz="1150" dirty="0"/>
          </a:p>
        </p:txBody>
      </p:sp>
      <p:sp>
        <p:nvSpPr>
          <p:cNvPr id="13" name="Shape 10"/>
          <p:cNvSpPr/>
          <p:nvPr/>
        </p:nvSpPr>
        <p:spPr>
          <a:xfrm>
            <a:off x="4307738" y="2788920"/>
            <a:ext cx="3576218" cy="1691640"/>
          </a:xfrm>
          <a:prstGeom prst="roundRect">
            <a:avLst>
              <a:gd name="adj" fmla="val 6486"/>
            </a:avLst>
          </a:prstGeom>
          <a:solidFill>
            <a:srgbClr val="FFFFFF"/>
          </a:solidFill>
          <a:ln w="7620">
            <a:solidFill>
              <a:srgbClr val="DFE2EA"/>
            </a:solidFill>
            <a:prstDash val="solid"/>
          </a:ln>
          <a:effectLst>
            <a:outerShdw sx="100000" sy="100000" kx="0" ky="0" algn="bl" rotWithShape="0" blurRad="177800" dist="38100" dir="8100000">
              <a:srgbClr val="000000">
                <a:alpha val="10000"/>
              </a:srgbClr>
            </a:outerShdw>
          </a:effectLst>
        </p:spPr>
      </p:sp>
      <p:sp>
        <p:nvSpPr>
          <p:cNvPr id="14" name="Shape 11"/>
          <p:cNvSpPr/>
          <p:nvPr/>
        </p:nvSpPr>
        <p:spPr>
          <a:xfrm>
            <a:off x="4307738" y="2788920"/>
            <a:ext cx="73152" cy="1691640"/>
          </a:xfrm>
          <a:prstGeom prst="rect">
            <a:avLst/>
          </a:prstGeom>
          <a:solidFill>
            <a:srgbClr val="E40029"/>
          </a:solidFill>
          <a:ln/>
        </p:spPr>
      </p:sp>
      <p:sp>
        <p:nvSpPr>
          <p:cNvPr id="15" name="Text 12"/>
          <p:cNvSpPr/>
          <p:nvPr/>
        </p:nvSpPr>
        <p:spPr>
          <a:xfrm>
            <a:off x="4582058" y="2953512"/>
            <a:ext cx="3210458" cy="292608"/>
          </a:xfrm>
          <a:prstGeom prst="rect">
            <a:avLst/>
          </a:prstGeom>
          <a:noFill/>
          <a:ln/>
        </p:spPr>
        <p:txBody>
          <a:bodyPr wrap="square" lIns="0" tIns="0" rIns="0" bIns="0" rtlCol="0" anchor="ctr"/>
          <a:lstStyle/>
          <a:p>
            <a:pPr indent="0" marL="0">
              <a:buNone/>
            </a:pPr>
            <a:r>
              <a:rPr lang="en-US" sz="1100" b="1" spc="300" kern="0" dirty="0">
                <a:solidFill>
                  <a:srgbClr val="E40029"/>
                </a:solidFill>
                <a:latin typeface="Calibri" pitchFamily="34" charset="0"/>
                <a:ea typeface="Calibri" pitchFamily="34" charset="-122"/>
                <a:cs typeface="Calibri" pitchFamily="34" charset="-120"/>
              </a:rPr>
              <a:t>Healthcare</a:t>
            </a:r>
            <a:endParaRPr lang="en-US" sz="1100" dirty="0"/>
          </a:p>
        </p:txBody>
      </p:sp>
      <p:sp>
        <p:nvSpPr>
          <p:cNvPr id="16" name="Text 13"/>
          <p:cNvSpPr/>
          <p:nvPr/>
        </p:nvSpPr>
        <p:spPr>
          <a:xfrm>
            <a:off x="4582058" y="3246120"/>
            <a:ext cx="3210458" cy="365760"/>
          </a:xfrm>
          <a:prstGeom prst="rect">
            <a:avLst/>
          </a:prstGeom>
          <a:noFill/>
          <a:ln/>
        </p:spPr>
        <p:txBody>
          <a:bodyPr wrap="square" lIns="0" tIns="0" rIns="0" bIns="0"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Clinical-note summarisation</a:t>
            </a:r>
            <a:endParaRPr lang="en-US" sz="1600" dirty="0"/>
          </a:p>
        </p:txBody>
      </p:sp>
      <p:sp>
        <p:nvSpPr>
          <p:cNvPr id="17" name="Text 14"/>
          <p:cNvSpPr/>
          <p:nvPr/>
        </p:nvSpPr>
        <p:spPr>
          <a:xfrm>
            <a:off x="4582058" y="3630168"/>
            <a:ext cx="3210458" cy="777240"/>
          </a:xfrm>
          <a:prstGeom prst="rect">
            <a:avLst/>
          </a:prstGeom>
          <a:noFill/>
          <a:ln/>
        </p:spPr>
        <p:txBody>
          <a:bodyPr wrap="square" lIns="0" tIns="0" rIns="0" bIns="0" rtlCol="0" anchor="ctr"/>
          <a:lstStyle/>
          <a:p>
            <a:pPr indent="0" marL="0">
              <a:buNone/>
            </a:pPr>
            <a:r>
              <a:rPr lang="en-US" sz="1150" dirty="0">
                <a:solidFill>
                  <a:srgbClr val="4A4D57"/>
                </a:solidFill>
                <a:latin typeface="Calibri" pitchFamily="34" charset="0"/>
                <a:ea typeface="Calibri" pitchFamily="34" charset="-122"/>
                <a:cs typeface="Calibri" pitchFamily="34" charset="-120"/>
              </a:rPr>
              <a:t>Prevents injection inside scanned patient records, exfiltration prompts hidden in imaging metadata, and display-order tricks in imported documents.</a:t>
            </a:r>
            <a:endParaRPr lang="en-US" sz="1150" dirty="0"/>
          </a:p>
        </p:txBody>
      </p:sp>
      <p:sp>
        <p:nvSpPr>
          <p:cNvPr id="18" name="Shape 15"/>
          <p:cNvSpPr/>
          <p:nvPr/>
        </p:nvSpPr>
        <p:spPr>
          <a:xfrm>
            <a:off x="8112557" y="2788920"/>
            <a:ext cx="3576218" cy="1691640"/>
          </a:xfrm>
          <a:prstGeom prst="roundRect">
            <a:avLst>
              <a:gd name="adj" fmla="val 6486"/>
            </a:avLst>
          </a:prstGeom>
          <a:solidFill>
            <a:srgbClr val="FFFFFF"/>
          </a:solidFill>
          <a:ln w="7620">
            <a:solidFill>
              <a:srgbClr val="DFE2EA"/>
            </a:solidFill>
            <a:prstDash val="solid"/>
          </a:ln>
          <a:effectLst>
            <a:outerShdw sx="100000" sy="100000" kx="0" ky="0" algn="bl" rotWithShape="0" blurRad="177800" dist="38100" dir="8100000">
              <a:srgbClr val="000000">
                <a:alpha val="10000"/>
              </a:srgbClr>
            </a:outerShdw>
          </a:effectLst>
        </p:spPr>
      </p:sp>
      <p:sp>
        <p:nvSpPr>
          <p:cNvPr id="19" name="Shape 16"/>
          <p:cNvSpPr/>
          <p:nvPr/>
        </p:nvSpPr>
        <p:spPr>
          <a:xfrm>
            <a:off x="8112557" y="2788920"/>
            <a:ext cx="73152" cy="1691640"/>
          </a:xfrm>
          <a:prstGeom prst="rect">
            <a:avLst/>
          </a:prstGeom>
          <a:solidFill>
            <a:srgbClr val="E40029"/>
          </a:solidFill>
          <a:ln/>
        </p:spPr>
      </p:sp>
      <p:sp>
        <p:nvSpPr>
          <p:cNvPr id="20" name="Text 17"/>
          <p:cNvSpPr/>
          <p:nvPr/>
        </p:nvSpPr>
        <p:spPr>
          <a:xfrm>
            <a:off x="8386877" y="2953512"/>
            <a:ext cx="3210458" cy="292608"/>
          </a:xfrm>
          <a:prstGeom prst="rect">
            <a:avLst/>
          </a:prstGeom>
          <a:noFill/>
          <a:ln/>
        </p:spPr>
        <p:txBody>
          <a:bodyPr wrap="square" lIns="0" tIns="0" rIns="0" bIns="0" rtlCol="0" anchor="ctr"/>
          <a:lstStyle/>
          <a:p>
            <a:pPr indent="0" marL="0">
              <a:buNone/>
            </a:pPr>
            <a:r>
              <a:rPr lang="en-US" sz="1100" b="1" spc="300" kern="0" dirty="0">
                <a:solidFill>
                  <a:srgbClr val="E40029"/>
                </a:solidFill>
                <a:latin typeface="Calibri" pitchFamily="34" charset="0"/>
                <a:ea typeface="Calibri" pitchFamily="34" charset="-122"/>
                <a:cs typeface="Calibri" pitchFamily="34" charset="-120"/>
              </a:rPr>
              <a:t>Financial services</a:t>
            </a:r>
            <a:endParaRPr lang="en-US" sz="1100" dirty="0"/>
          </a:p>
        </p:txBody>
      </p:sp>
      <p:sp>
        <p:nvSpPr>
          <p:cNvPr id="21" name="Text 18"/>
          <p:cNvSpPr/>
          <p:nvPr/>
        </p:nvSpPr>
        <p:spPr>
          <a:xfrm>
            <a:off x="8386877" y="3246120"/>
            <a:ext cx="3210458" cy="365760"/>
          </a:xfrm>
          <a:prstGeom prst="rect">
            <a:avLst/>
          </a:prstGeom>
          <a:noFill/>
          <a:ln/>
        </p:spPr>
        <p:txBody>
          <a:bodyPr wrap="square" lIns="0" tIns="0" rIns="0" bIns="0"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RAG over compliance documents</a:t>
            </a:r>
            <a:endParaRPr lang="en-US" sz="1600" dirty="0"/>
          </a:p>
        </p:txBody>
      </p:sp>
      <p:sp>
        <p:nvSpPr>
          <p:cNvPr id="22" name="Text 19"/>
          <p:cNvSpPr/>
          <p:nvPr/>
        </p:nvSpPr>
        <p:spPr>
          <a:xfrm>
            <a:off x="8386877" y="3630168"/>
            <a:ext cx="3210458" cy="777240"/>
          </a:xfrm>
          <a:prstGeom prst="rect">
            <a:avLst/>
          </a:prstGeom>
          <a:noFill/>
          <a:ln/>
        </p:spPr>
        <p:txBody>
          <a:bodyPr wrap="square" lIns="0" tIns="0" rIns="0" bIns="0" rtlCol="0" anchor="ctr"/>
          <a:lstStyle/>
          <a:p>
            <a:pPr indent="0" marL="0">
              <a:buNone/>
            </a:pPr>
            <a:r>
              <a:rPr lang="en-US" sz="1150" dirty="0">
                <a:solidFill>
                  <a:srgbClr val="4A4D57"/>
                </a:solidFill>
                <a:latin typeface="Calibri" pitchFamily="34" charset="0"/>
                <a:ea typeface="Calibri" pitchFamily="34" charset="-122"/>
                <a:cs typeface="Calibri" pitchFamily="34" charset="-120"/>
              </a:rPr>
              <a:t>Blocks attacks smuggled inside filings, encoded payloads in spreadsheet cells, and prompt-leak attempts in customer invoices.</a:t>
            </a:r>
            <a:endParaRPr lang="en-US" sz="1150" dirty="0"/>
          </a:p>
        </p:txBody>
      </p:sp>
      <p:sp>
        <p:nvSpPr>
          <p:cNvPr id="23" name="Shape 20"/>
          <p:cNvSpPr/>
          <p:nvPr/>
        </p:nvSpPr>
        <p:spPr>
          <a:xfrm>
            <a:off x="502920" y="4709160"/>
            <a:ext cx="3576218" cy="1691640"/>
          </a:xfrm>
          <a:prstGeom prst="roundRect">
            <a:avLst>
              <a:gd name="adj" fmla="val 6486"/>
            </a:avLst>
          </a:prstGeom>
          <a:solidFill>
            <a:srgbClr val="FFFFFF"/>
          </a:solidFill>
          <a:ln w="7620">
            <a:solidFill>
              <a:srgbClr val="DFE2EA"/>
            </a:solidFill>
            <a:prstDash val="solid"/>
          </a:ln>
          <a:effectLst>
            <a:outerShdw sx="100000" sy="100000" kx="0" ky="0" algn="bl" rotWithShape="0" blurRad="177800" dist="38100" dir="8100000">
              <a:srgbClr val="000000">
                <a:alpha val="10000"/>
              </a:srgbClr>
            </a:outerShdw>
          </a:effectLst>
        </p:spPr>
      </p:sp>
      <p:sp>
        <p:nvSpPr>
          <p:cNvPr id="24" name="Shape 21"/>
          <p:cNvSpPr/>
          <p:nvPr/>
        </p:nvSpPr>
        <p:spPr>
          <a:xfrm>
            <a:off x="502920" y="4709160"/>
            <a:ext cx="73152" cy="1691640"/>
          </a:xfrm>
          <a:prstGeom prst="rect">
            <a:avLst/>
          </a:prstGeom>
          <a:solidFill>
            <a:srgbClr val="E40029"/>
          </a:solidFill>
          <a:ln/>
        </p:spPr>
      </p:sp>
      <p:sp>
        <p:nvSpPr>
          <p:cNvPr id="25" name="Text 22"/>
          <p:cNvSpPr/>
          <p:nvPr/>
        </p:nvSpPr>
        <p:spPr>
          <a:xfrm>
            <a:off x="777240" y="4873752"/>
            <a:ext cx="3210458" cy="292608"/>
          </a:xfrm>
          <a:prstGeom prst="rect">
            <a:avLst/>
          </a:prstGeom>
          <a:noFill/>
          <a:ln/>
        </p:spPr>
        <p:txBody>
          <a:bodyPr wrap="square" lIns="0" tIns="0" rIns="0" bIns="0" rtlCol="0" anchor="ctr"/>
          <a:lstStyle/>
          <a:p>
            <a:pPr indent="0" marL="0">
              <a:buNone/>
            </a:pPr>
            <a:r>
              <a:rPr lang="en-US" sz="1100" b="1" spc="300" kern="0" dirty="0">
                <a:solidFill>
                  <a:srgbClr val="E40029"/>
                </a:solidFill>
                <a:latin typeface="Calibri" pitchFamily="34" charset="0"/>
                <a:ea typeface="Calibri" pitchFamily="34" charset="-122"/>
                <a:cs typeface="Calibri" pitchFamily="34" charset="-120"/>
              </a:rPr>
              <a:t>Customer support</a:t>
            </a:r>
            <a:endParaRPr lang="en-US" sz="1100" dirty="0"/>
          </a:p>
        </p:txBody>
      </p:sp>
      <p:sp>
        <p:nvSpPr>
          <p:cNvPr id="26" name="Text 23"/>
          <p:cNvSpPr/>
          <p:nvPr/>
        </p:nvSpPr>
        <p:spPr>
          <a:xfrm>
            <a:off x="777240" y="5166360"/>
            <a:ext cx="3210458" cy="365760"/>
          </a:xfrm>
          <a:prstGeom prst="rect">
            <a:avLst/>
          </a:prstGeom>
          <a:noFill/>
          <a:ln/>
        </p:spPr>
        <p:txBody>
          <a:bodyPr wrap="square" lIns="0" tIns="0" rIns="0" bIns="0"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Auto-summary of uploaded tickets</a:t>
            </a:r>
            <a:endParaRPr lang="en-US" sz="1600" dirty="0"/>
          </a:p>
        </p:txBody>
      </p:sp>
      <p:sp>
        <p:nvSpPr>
          <p:cNvPr id="27" name="Text 24"/>
          <p:cNvSpPr/>
          <p:nvPr/>
        </p:nvSpPr>
        <p:spPr>
          <a:xfrm>
            <a:off x="777240" y="5550408"/>
            <a:ext cx="3210458" cy="777240"/>
          </a:xfrm>
          <a:prstGeom prst="rect">
            <a:avLst/>
          </a:prstGeom>
          <a:noFill/>
          <a:ln/>
        </p:spPr>
        <p:txBody>
          <a:bodyPr wrap="square" lIns="0" tIns="0" rIns="0" bIns="0" rtlCol="0" anchor="ctr"/>
          <a:lstStyle/>
          <a:p>
            <a:pPr indent="0" marL="0">
              <a:buNone/>
            </a:pPr>
            <a:r>
              <a:rPr lang="en-US" sz="1150" dirty="0">
                <a:solidFill>
                  <a:srgbClr val="4A4D57"/>
                </a:solidFill>
                <a:latin typeface="Calibri" pitchFamily="34" charset="0"/>
                <a:ea typeface="Calibri" pitchFamily="34" charset="-122"/>
                <a:cs typeface="Calibri" pitchFamily="34" charset="-120"/>
              </a:rPr>
              <a:t>Catches code payloads recovered from screenshot attachments and exfiltration prompts hidden inside transcripts of voicemails.</a:t>
            </a:r>
            <a:endParaRPr lang="en-US" sz="1150" dirty="0"/>
          </a:p>
        </p:txBody>
      </p:sp>
      <p:sp>
        <p:nvSpPr>
          <p:cNvPr id="28" name="Shape 25"/>
          <p:cNvSpPr/>
          <p:nvPr/>
        </p:nvSpPr>
        <p:spPr>
          <a:xfrm>
            <a:off x="4307738" y="4709160"/>
            <a:ext cx="3576218" cy="1691640"/>
          </a:xfrm>
          <a:prstGeom prst="roundRect">
            <a:avLst>
              <a:gd name="adj" fmla="val 6486"/>
            </a:avLst>
          </a:prstGeom>
          <a:solidFill>
            <a:srgbClr val="FFFFFF"/>
          </a:solidFill>
          <a:ln w="7620">
            <a:solidFill>
              <a:srgbClr val="DFE2EA"/>
            </a:solidFill>
            <a:prstDash val="solid"/>
          </a:ln>
          <a:effectLst>
            <a:outerShdw sx="100000" sy="100000" kx="0" ky="0" algn="bl" rotWithShape="0" blurRad="177800" dist="38100" dir="8100000">
              <a:srgbClr val="000000">
                <a:alpha val="10000"/>
              </a:srgbClr>
            </a:outerShdw>
          </a:effectLst>
        </p:spPr>
      </p:sp>
      <p:sp>
        <p:nvSpPr>
          <p:cNvPr id="29" name="Shape 26"/>
          <p:cNvSpPr/>
          <p:nvPr/>
        </p:nvSpPr>
        <p:spPr>
          <a:xfrm>
            <a:off x="4307738" y="4709160"/>
            <a:ext cx="73152" cy="1691640"/>
          </a:xfrm>
          <a:prstGeom prst="rect">
            <a:avLst/>
          </a:prstGeom>
          <a:solidFill>
            <a:srgbClr val="E40029"/>
          </a:solidFill>
          <a:ln/>
        </p:spPr>
      </p:sp>
      <p:sp>
        <p:nvSpPr>
          <p:cNvPr id="30" name="Text 27"/>
          <p:cNvSpPr/>
          <p:nvPr/>
        </p:nvSpPr>
        <p:spPr>
          <a:xfrm>
            <a:off x="4582058" y="4873752"/>
            <a:ext cx="3210458" cy="292608"/>
          </a:xfrm>
          <a:prstGeom prst="rect">
            <a:avLst/>
          </a:prstGeom>
          <a:noFill/>
          <a:ln/>
        </p:spPr>
        <p:txBody>
          <a:bodyPr wrap="square" lIns="0" tIns="0" rIns="0" bIns="0" rtlCol="0" anchor="ctr"/>
          <a:lstStyle/>
          <a:p>
            <a:pPr indent="0" marL="0">
              <a:buNone/>
            </a:pPr>
            <a:r>
              <a:rPr lang="en-US" sz="1100" b="1" spc="300" kern="0" dirty="0">
                <a:solidFill>
                  <a:srgbClr val="E40029"/>
                </a:solidFill>
                <a:latin typeface="Calibri" pitchFamily="34" charset="0"/>
                <a:ea typeface="Calibri" pitchFamily="34" charset="-122"/>
                <a:cs typeface="Calibri" pitchFamily="34" charset="-120"/>
              </a:rPr>
              <a:t>Legal &amp; eDiscovery</a:t>
            </a:r>
            <a:endParaRPr lang="en-US" sz="1100" dirty="0"/>
          </a:p>
        </p:txBody>
      </p:sp>
      <p:sp>
        <p:nvSpPr>
          <p:cNvPr id="31" name="Text 28"/>
          <p:cNvSpPr/>
          <p:nvPr/>
        </p:nvSpPr>
        <p:spPr>
          <a:xfrm>
            <a:off x="4582058" y="5166360"/>
            <a:ext cx="3210458" cy="365760"/>
          </a:xfrm>
          <a:prstGeom prst="rect">
            <a:avLst/>
          </a:prstGeom>
          <a:noFill/>
          <a:ln/>
        </p:spPr>
        <p:txBody>
          <a:bodyPr wrap="square" lIns="0" tIns="0" rIns="0" bIns="0"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AI-assisted document review</a:t>
            </a:r>
            <a:endParaRPr lang="en-US" sz="1600" dirty="0"/>
          </a:p>
        </p:txBody>
      </p:sp>
      <p:sp>
        <p:nvSpPr>
          <p:cNvPr id="32" name="Text 29"/>
          <p:cNvSpPr/>
          <p:nvPr/>
        </p:nvSpPr>
        <p:spPr>
          <a:xfrm>
            <a:off x="4582058" y="5550408"/>
            <a:ext cx="3210458" cy="777240"/>
          </a:xfrm>
          <a:prstGeom prst="rect">
            <a:avLst/>
          </a:prstGeom>
          <a:noFill/>
          <a:ln/>
        </p:spPr>
        <p:txBody>
          <a:bodyPr wrap="square" lIns="0" tIns="0" rIns="0" bIns="0" rtlCol="0" anchor="ctr"/>
          <a:lstStyle/>
          <a:p>
            <a:pPr indent="0" marL="0">
              <a:buNone/>
            </a:pPr>
            <a:r>
              <a:rPr lang="en-US" sz="1150" dirty="0">
                <a:solidFill>
                  <a:srgbClr val="4A4D57"/>
                </a:solidFill>
                <a:latin typeface="Calibri" pitchFamily="34" charset="0"/>
                <a:ea typeface="Calibri" pitchFamily="34" charset="-122"/>
                <a:cs typeface="Calibri" pitchFamily="34" charset="-120"/>
              </a:rPr>
              <a:t>Surfaces Trojan-Source overrides in contracts, encoded clauses, and instructions hidden in document properties that would otherwise bias review.</a:t>
            </a:r>
            <a:endParaRPr lang="en-US" sz="1150" dirty="0"/>
          </a:p>
        </p:txBody>
      </p:sp>
      <p:sp>
        <p:nvSpPr>
          <p:cNvPr id="33" name="Shape 30"/>
          <p:cNvSpPr/>
          <p:nvPr/>
        </p:nvSpPr>
        <p:spPr>
          <a:xfrm>
            <a:off x="8112557" y="4709160"/>
            <a:ext cx="3576218" cy="1691640"/>
          </a:xfrm>
          <a:prstGeom prst="roundRect">
            <a:avLst>
              <a:gd name="adj" fmla="val 6486"/>
            </a:avLst>
          </a:prstGeom>
          <a:solidFill>
            <a:srgbClr val="FFFFFF"/>
          </a:solidFill>
          <a:ln w="7620">
            <a:solidFill>
              <a:srgbClr val="DFE2EA"/>
            </a:solidFill>
            <a:prstDash val="solid"/>
          </a:ln>
          <a:effectLst>
            <a:outerShdw sx="100000" sy="100000" kx="0" ky="0" algn="bl" rotWithShape="0" blurRad="177800" dist="38100" dir="8100000">
              <a:srgbClr val="000000">
                <a:alpha val="10000"/>
              </a:srgbClr>
            </a:outerShdw>
          </a:effectLst>
        </p:spPr>
      </p:sp>
      <p:sp>
        <p:nvSpPr>
          <p:cNvPr id="34" name="Shape 31"/>
          <p:cNvSpPr/>
          <p:nvPr/>
        </p:nvSpPr>
        <p:spPr>
          <a:xfrm>
            <a:off x="8112557" y="4709160"/>
            <a:ext cx="73152" cy="1691640"/>
          </a:xfrm>
          <a:prstGeom prst="rect">
            <a:avLst/>
          </a:prstGeom>
          <a:solidFill>
            <a:srgbClr val="E40029"/>
          </a:solidFill>
          <a:ln/>
        </p:spPr>
      </p:sp>
      <p:sp>
        <p:nvSpPr>
          <p:cNvPr id="35" name="Text 32"/>
          <p:cNvSpPr/>
          <p:nvPr/>
        </p:nvSpPr>
        <p:spPr>
          <a:xfrm>
            <a:off x="8386877" y="4873752"/>
            <a:ext cx="3210458" cy="292608"/>
          </a:xfrm>
          <a:prstGeom prst="rect">
            <a:avLst/>
          </a:prstGeom>
          <a:noFill/>
          <a:ln/>
        </p:spPr>
        <p:txBody>
          <a:bodyPr wrap="square" lIns="0" tIns="0" rIns="0" bIns="0" rtlCol="0" anchor="ctr"/>
          <a:lstStyle/>
          <a:p>
            <a:pPr indent="0" marL="0">
              <a:buNone/>
            </a:pPr>
            <a:r>
              <a:rPr lang="en-US" sz="1100" b="1" spc="300" kern="0" dirty="0">
                <a:solidFill>
                  <a:srgbClr val="E40029"/>
                </a:solidFill>
                <a:latin typeface="Calibri" pitchFamily="34" charset="0"/>
                <a:ea typeface="Calibri" pitchFamily="34" charset="-122"/>
                <a:cs typeface="Calibri" pitchFamily="34" charset="-120"/>
              </a:rPr>
              <a:t>Enterprise SaaS</a:t>
            </a:r>
            <a:endParaRPr lang="en-US" sz="1100" dirty="0"/>
          </a:p>
        </p:txBody>
      </p:sp>
      <p:sp>
        <p:nvSpPr>
          <p:cNvPr id="36" name="Text 33"/>
          <p:cNvSpPr/>
          <p:nvPr/>
        </p:nvSpPr>
        <p:spPr>
          <a:xfrm>
            <a:off x="8386877" y="5166360"/>
            <a:ext cx="3210458" cy="365760"/>
          </a:xfrm>
          <a:prstGeom prst="rect">
            <a:avLst/>
          </a:prstGeom>
          <a:noFill/>
          <a:ln/>
        </p:spPr>
        <p:txBody>
          <a:bodyPr wrap="square" lIns="0" tIns="0" rIns="0" bIns="0"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Multi-tenant LLM applications</a:t>
            </a:r>
            <a:endParaRPr lang="en-US" sz="1600" dirty="0"/>
          </a:p>
        </p:txBody>
      </p:sp>
      <p:sp>
        <p:nvSpPr>
          <p:cNvPr id="37" name="Text 34"/>
          <p:cNvSpPr/>
          <p:nvPr/>
        </p:nvSpPr>
        <p:spPr>
          <a:xfrm>
            <a:off x="8386877" y="5550408"/>
            <a:ext cx="3210458" cy="777240"/>
          </a:xfrm>
          <a:prstGeom prst="rect">
            <a:avLst/>
          </a:prstGeom>
          <a:noFill/>
          <a:ln/>
        </p:spPr>
        <p:txBody>
          <a:bodyPr wrap="square" lIns="0" tIns="0" rIns="0" bIns="0" rtlCol="0" anchor="ctr"/>
          <a:lstStyle/>
          <a:p>
            <a:pPr indent="0" marL="0">
              <a:buNone/>
            </a:pPr>
            <a:r>
              <a:rPr lang="en-US" sz="1150" dirty="0">
                <a:solidFill>
                  <a:srgbClr val="4A4D57"/>
                </a:solidFill>
                <a:latin typeface="Calibri" pitchFamily="34" charset="0"/>
                <a:ea typeface="Calibri" pitchFamily="34" charset="-122"/>
                <a:cs typeface="Calibri" pitchFamily="34" charset="-120"/>
              </a:rPr>
              <a:t>Stops one customer's malicious upload from poisoning another customer's AI session. Works in air-gapped tenants — no external calls required.</a:t>
            </a:r>
            <a:endParaRPr lang="en-US" sz="1150" dirty="0"/>
          </a:p>
        </p:txBody>
      </p:sp>
      <p:sp>
        <p:nvSpPr>
          <p:cNvPr id="38" name="Shape 35"/>
          <p:cNvSpPr/>
          <p:nvPr/>
        </p:nvSpPr>
        <p:spPr>
          <a:xfrm>
            <a:off x="502920" y="6446520"/>
            <a:ext cx="11185855" cy="0"/>
          </a:xfrm>
          <a:prstGeom prst="line">
            <a:avLst/>
          </a:prstGeom>
          <a:noFill/>
          <a:ln w="6350">
            <a:solidFill>
              <a:srgbClr val="DFE2EA"/>
            </a:solidFill>
            <a:prstDash val="solid"/>
          </a:ln>
        </p:spPr>
      </p:sp>
      <p:sp>
        <p:nvSpPr>
          <p:cNvPr id="39" name="Text 36"/>
          <p:cNvSpPr/>
          <p:nvPr/>
        </p:nvSpPr>
        <p:spPr>
          <a:xfrm>
            <a:off x="502920" y="6510528"/>
            <a:ext cx="7315200" cy="274320"/>
          </a:xfrm>
          <a:prstGeom prst="rect">
            <a:avLst/>
          </a:prstGeom>
          <a:noFill/>
          <a:ln/>
        </p:spPr>
        <p:txBody>
          <a:bodyPr wrap="square" lIns="0" tIns="0" rIns="0" bIns="0" rtlCol="0" anchor="ctr"/>
          <a:lstStyle/>
          <a:p>
            <a:pPr indent="0" marL="0">
              <a:buNone/>
            </a:pPr>
            <a:r>
              <a:rPr lang="en-US" sz="900" dirty="0">
                <a:solidFill>
                  <a:srgbClr val="7A7E8A"/>
                </a:solidFill>
                <a:latin typeface="Calibri" pitchFamily="34" charset="0"/>
                <a:ea typeface="Calibri" pitchFamily="34" charset="-122"/>
                <a:cs typeface="Calibri" pitchFamily="34" charset="-120"/>
              </a:rPr>
              <a:t>Trapdoor · Working architecture</a:t>
            </a:r>
            <a:endParaRPr lang="en-US" sz="900" dirty="0"/>
          </a:p>
        </p:txBody>
      </p:sp>
      <p:sp>
        <p:nvSpPr>
          <p:cNvPr id="40" name="Text 37"/>
          <p:cNvSpPr/>
          <p:nvPr/>
        </p:nvSpPr>
        <p:spPr>
          <a:xfrm>
            <a:off x="10637215" y="6510528"/>
            <a:ext cx="1051560" cy="274320"/>
          </a:xfrm>
          <a:prstGeom prst="rect">
            <a:avLst/>
          </a:prstGeom>
          <a:noFill/>
          <a:ln/>
        </p:spPr>
        <p:txBody>
          <a:bodyPr wrap="square" lIns="0" tIns="0" rIns="0" bIns="0" rtlCol="0" anchor="ctr"/>
          <a:lstStyle/>
          <a:p>
            <a:pPr algn="r" indent="0" marL="0">
              <a:buNone/>
            </a:pPr>
            <a:r>
              <a:rPr lang="en-US" sz="900" dirty="0">
                <a:solidFill>
                  <a:srgbClr val="7A7E8A"/>
                </a:solidFill>
                <a:latin typeface="Calibri" pitchFamily="34" charset="0"/>
                <a:ea typeface="Calibri" pitchFamily="34" charset="-122"/>
                <a:cs typeface="Calibri" pitchFamily="34" charset="-120"/>
              </a:rPr>
              <a:t>10 / 12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5F9"/>
        </a:solidFill>
      </p:bgPr>
    </p:bg>
    <p:spTree>
      <p:nvGrpSpPr>
        <p:cNvPr id="1" name=""/>
        <p:cNvGrpSpPr/>
        <p:nvPr/>
      </p:nvGrpSpPr>
      <p:grpSpPr>
        <a:xfrm>
          <a:off x="0" y="0"/>
          <a:ext cx="0" cy="0"/>
          <a:chOff x="0" y="0"/>
          <a:chExt cx="0" cy="0"/>
        </a:xfrm>
      </p:grpSpPr>
      <p:sp>
        <p:nvSpPr>
          <p:cNvPr id="2" name="Shape 0"/>
          <p:cNvSpPr/>
          <p:nvPr/>
        </p:nvSpPr>
        <p:spPr>
          <a:xfrm>
            <a:off x="502920" y="868680"/>
            <a:ext cx="201168" cy="292608"/>
          </a:xfrm>
          <a:prstGeom prst="rect">
            <a:avLst/>
          </a:prstGeom>
          <a:solidFill>
            <a:srgbClr val="E40029"/>
          </a:solidFill>
          <a:ln/>
        </p:spPr>
      </p:sp>
      <p:sp>
        <p:nvSpPr>
          <p:cNvPr id="3" name="Text 1"/>
          <p:cNvSpPr/>
          <p:nvPr/>
        </p:nvSpPr>
        <p:spPr>
          <a:xfrm>
            <a:off x="822960" y="850392"/>
            <a:ext cx="6858000" cy="329184"/>
          </a:xfrm>
          <a:prstGeom prst="rect">
            <a:avLst/>
          </a:prstGeom>
          <a:noFill/>
          <a:ln/>
        </p:spPr>
        <p:txBody>
          <a:bodyPr wrap="square" lIns="0" tIns="0" rIns="0" bIns="0" rtlCol="0" anchor="ctr"/>
          <a:lstStyle/>
          <a:p>
            <a:pPr indent="0" marL="0">
              <a:buNone/>
            </a:pPr>
            <a:r>
              <a:rPr lang="en-US" sz="1100" b="1" spc="400" kern="0" dirty="0">
                <a:solidFill>
                  <a:srgbClr val="E40029"/>
                </a:solidFill>
                <a:latin typeface="Calibri" pitchFamily="34" charset="0"/>
                <a:ea typeface="Calibri" pitchFamily="34" charset="-122"/>
                <a:cs typeface="Calibri" pitchFamily="34" charset="-120"/>
              </a:rPr>
              <a:t>BUSINESS IMPACT</a:t>
            </a:r>
            <a:endParaRPr lang="en-US" sz="1100" dirty="0"/>
          </a:p>
        </p:txBody>
      </p:sp>
      <p:sp>
        <p:nvSpPr>
          <p:cNvPr id="4" name="Text 2"/>
          <p:cNvSpPr/>
          <p:nvPr/>
        </p:nvSpPr>
        <p:spPr>
          <a:xfrm>
            <a:off x="502920" y="1243584"/>
            <a:ext cx="11185855" cy="777240"/>
          </a:xfrm>
          <a:prstGeom prst="rect">
            <a:avLst/>
          </a:prstGeom>
          <a:noFill/>
          <a:ln/>
        </p:spPr>
        <p:txBody>
          <a:bodyPr wrap="square" lIns="0" tIns="0" rIns="0" bIns="0" rtlCol="0" anchor="t"/>
          <a:lstStyle/>
          <a:p>
            <a:pPr algn="l" indent="0" marL="0">
              <a:buNone/>
            </a:pPr>
            <a:r>
              <a:rPr lang="en-US" sz="3400" b="1" dirty="0">
                <a:solidFill>
                  <a:srgbClr val="1A1A1A"/>
                </a:solidFill>
                <a:latin typeface="Calibri" pitchFamily="34" charset="0"/>
                <a:ea typeface="Calibri" pitchFamily="34" charset="-122"/>
                <a:cs typeface="Calibri" pitchFamily="34" charset="-120"/>
              </a:rPr>
              <a:t>Why it pays off.</a:t>
            </a:r>
            <a:endParaRPr lang="en-US" sz="3400" dirty="0"/>
          </a:p>
        </p:txBody>
      </p:sp>
      <p:sp>
        <p:nvSpPr>
          <p:cNvPr id="5" name="Text 3"/>
          <p:cNvSpPr/>
          <p:nvPr/>
        </p:nvSpPr>
        <p:spPr>
          <a:xfrm>
            <a:off x="502920" y="1993392"/>
            <a:ext cx="11185855" cy="411480"/>
          </a:xfrm>
          <a:prstGeom prst="rect">
            <a:avLst/>
          </a:prstGeom>
          <a:noFill/>
          <a:ln/>
        </p:spPr>
        <p:txBody>
          <a:bodyPr wrap="square" lIns="0" tIns="0" rIns="0" bIns="0" rtlCol="0" anchor="ctr"/>
          <a:lstStyle/>
          <a:p>
            <a:pPr indent="0" marL="0">
              <a:buNone/>
            </a:pPr>
            <a:r>
              <a:rPr lang="en-US" sz="1400" dirty="0">
                <a:solidFill>
                  <a:srgbClr val="4A4D57"/>
                </a:solidFill>
                <a:latin typeface="Calibri" pitchFamily="34" charset="0"/>
                <a:ea typeface="Calibri" pitchFamily="34" charset="-122"/>
                <a:cs typeface="Calibri" pitchFamily="34" charset="-120"/>
              </a:rPr>
              <a:t>Faster than the model itself, cheaper than another API call, and structurally able to catch attacks the model can't see.</a:t>
            </a:r>
            <a:endParaRPr lang="en-US" sz="1400" dirty="0"/>
          </a:p>
        </p:txBody>
      </p:sp>
      <p:sp>
        <p:nvSpPr>
          <p:cNvPr id="6" name="Shape 4"/>
          <p:cNvSpPr/>
          <p:nvPr/>
        </p:nvSpPr>
        <p:spPr>
          <a:xfrm>
            <a:off x="502920" y="2542032"/>
            <a:ext cx="11185855" cy="0"/>
          </a:xfrm>
          <a:prstGeom prst="line">
            <a:avLst/>
          </a:prstGeom>
          <a:noFill/>
          <a:ln w="9525">
            <a:solidFill>
              <a:srgbClr val="DFE2EA"/>
            </a:solidFill>
            <a:prstDash val="solid"/>
          </a:ln>
        </p:spPr>
      </p:sp>
      <p:pic>
        <p:nvPicPr>
          <p:cNvPr id="7" name="Image 0" descr="assets/tech-mahindra-logo.png">    </p:cNvPr>
          <p:cNvPicPr>
            <a:picLocks noChangeAspect="1"/>
          </p:cNvPicPr>
          <p:nvPr/>
        </p:nvPicPr>
        <p:blipFill>
          <a:blip r:embed="rId1"/>
          <a:stretch>
            <a:fillRect/>
          </a:stretch>
        </p:blipFill>
        <p:spPr>
          <a:xfrm>
            <a:off x="10183952" y="384048"/>
            <a:ext cx="1504824" cy="411480"/>
          </a:xfrm>
          <a:prstGeom prst="rect">
            <a:avLst/>
          </a:prstGeom>
        </p:spPr>
      </p:pic>
      <p:sp>
        <p:nvSpPr>
          <p:cNvPr id="8" name="Shape 5"/>
          <p:cNvSpPr/>
          <p:nvPr/>
        </p:nvSpPr>
        <p:spPr>
          <a:xfrm>
            <a:off x="502920" y="2788920"/>
            <a:ext cx="2590724" cy="1874520"/>
          </a:xfrm>
          <a:prstGeom prst="roundRect">
            <a:avLst>
              <a:gd name="adj" fmla="val 5854"/>
            </a:avLst>
          </a:prstGeom>
          <a:solidFill>
            <a:srgbClr val="FFFFFF"/>
          </a:solidFill>
          <a:ln w="7620">
            <a:solidFill>
              <a:srgbClr val="DFE2EA"/>
            </a:solidFill>
            <a:prstDash val="solid"/>
          </a:ln>
          <a:effectLst>
            <a:outerShdw sx="100000" sy="100000" kx="0" ky="0" algn="bl" rotWithShape="0" blurRad="177800" dist="38100" dir="8100000">
              <a:srgbClr val="000000">
                <a:alpha val="10000"/>
              </a:srgbClr>
            </a:outerShdw>
          </a:effectLst>
        </p:spPr>
      </p:sp>
      <p:sp>
        <p:nvSpPr>
          <p:cNvPr id="9" name="Text 6"/>
          <p:cNvSpPr/>
          <p:nvPr/>
        </p:nvSpPr>
        <p:spPr>
          <a:xfrm>
            <a:off x="731520" y="3017520"/>
            <a:ext cx="2133524" cy="731520"/>
          </a:xfrm>
          <a:prstGeom prst="rect">
            <a:avLst/>
          </a:prstGeom>
          <a:noFill/>
          <a:ln/>
        </p:spPr>
        <p:txBody>
          <a:bodyPr wrap="square" lIns="0" tIns="0" rIns="0" bIns="0" rtlCol="0" anchor="ctr"/>
          <a:lstStyle/>
          <a:p>
            <a:pPr indent="0" marL="0">
              <a:buNone/>
            </a:pPr>
            <a:r>
              <a:rPr lang="en-US" sz="3200" b="1" dirty="0">
                <a:solidFill>
                  <a:srgbClr val="E40029"/>
                </a:solidFill>
                <a:latin typeface="Calibri" pitchFamily="34" charset="0"/>
                <a:ea typeface="Calibri" pitchFamily="34" charset="-122"/>
                <a:cs typeface="Calibri" pitchFamily="34" charset="-120"/>
              </a:rPr>
              <a:t>10</a:t>
            </a:r>
            <a:endParaRPr lang="en-US" sz="3200" dirty="0"/>
          </a:p>
        </p:txBody>
      </p:sp>
      <p:sp>
        <p:nvSpPr>
          <p:cNvPr id="10" name="Text 7"/>
          <p:cNvSpPr/>
          <p:nvPr/>
        </p:nvSpPr>
        <p:spPr>
          <a:xfrm>
            <a:off x="731520" y="3749040"/>
            <a:ext cx="2133524" cy="292608"/>
          </a:xfrm>
          <a:prstGeom prst="rect">
            <a:avLst/>
          </a:prstGeom>
          <a:noFill/>
          <a:ln/>
        </p:spPr>
        <p:txBody>
          <a:bodyPr wrap="square" lIns="0" tIns="0" rIns="0" bIns="0" rtlCol="0" anchor="ctr"/>
          <a:lstStyle/>
          <a:p>
            <a:pPr indent="0" marL="0">
              <a:buNone/>
            </a:pPr>
            <a:r>
              <a:rPr lang="en-US" sz="1000" b="1" spc="200" kern="0" dirty="0">
                <a:solidFill>
                  <a:srgbClr val="1A1A1A"/>
                </a:solidFill>
                <a:latin typeface="Calibri" pitchFamily="34" charset="0"/>
                <a:ea typeface="Calibri" pitchFamily="34" charset="-122"/>
                <a:cs typeface="Calibri" pitchFamily="34" charset="-120"/>
              </a:rPr>
              <a:t>INDEPENDENT DETECTORS</a:t>
            </a:r>
            <a:endParaRPr lang="en-US" sz="1000" dirty="0"/>
          </a:p>
        </p:txBody>
      </p:sp>
      <p:sp>
        <p:nvSpPr>
          <p:cNvPr id="11" name="Text 8"/>
          <p:cNvSpPr/>
          <p:nvPr/>
        </p:nvSpPr>
        <p:spPr>
          <a:xfrm>
            <a:off x="731520" y="4050792"/>
            <a:ext cx="2133524" cy="502920"/>
          </a:xfrm>
          <a:prstGeom prst="rect">
            <a:avLst/>
          </a:prstGeom>
          <a:noFill/>
          <a:ln/>
        </p:spPr>
        <p:txBody>
          <a:bodyPr wrap="square" lIns="0" tIns="0" rIns="0" bIns="0" rtlCol="0" anchor="ctr"/>
          <a:lstStyle/>
          <a:p>
            <a:pPr indent="0" marL="0">
              <a:buNone/>
            </a:pPr>
            <a:r>
              <a:rPr lang="en-US" sz="1050" dirty="0">
                <a:solidFill>
                  <a:srgbClr val="4A4D57"/>
                </a:solidFill>
                <a:latin typeface="Calibri" pitchFamily="34" charset="0"/>
                <a:ea typeface="Calibri" pitchFamily="34" charset="-122"/>
                <a:cs typeface="Calibri" pitchFamily="34" charset="-120"/>
              </a:rPr>
              <a:t>Defence in depth — different angles, all running on every file.</a:t>
            </a:r>
            <a:endParaRPr lang="en-US" sz="1050" dirty="0"/>
          </a:p>
        </p:txBody>
      </p:sp>
      <p:sp>
        <p:nvSpPr>
          <p:cNvPr id="12" name="Shape 9"/>
          <p:cNvSpPr/>
          <p:nvPr/>
        </p:nvSpPr>
        <p:spPr>
          <a:xfrm>
            <a:off x="3367964" y="2788920"/>
            <a:ext cx="2590724" cy="1874520"/>
          </a:xfrm>
          <a:prstGeom prst="roundRect">
            <a:avLst>
              <a:gd name="adj" fmla="val 5854"/>
            </a:avLst>
          </a:prstGeom>
          <a:solidFill>
            <a:srgbClr val="FFFFFF"/>
          </a:solidFill>
          <a:ln w="7620">
            <a:solidFill>
              <a:srgbClr val="DFE2EA"/>
            </a:solidFill>
            <a:prstDash val="solid"/>
          </a:ln>
          <a:effectLst>
            <a:outerShdw sx="100000" sy="100000" kx="0" ky="0" algn="bl" rotWithShape="0" blurRad="177800" dist="38100" dir="8100000">
              <a:srgbClr val="000000">
                <a:alpha val="10000"/>
              </a:srgbClr>
            </a:outerShdw>
          </a:effectLst>
        </p:spPr>
      </p:sp>
      <p:sp>
        <p:nvSpPr>
          <p:cNvPr id="13" name="Text 10"/>
          <p:cNvSpPr/>
          <p:nvPr/>
        </p:nvSpPr>
        <p:spPr>
          <a:xfrm>
            <a:off x="3596564" y="3017520"/>
            <a:ext cx="2133524" cy="731520"/>
          </a:xfrm>
          <a:prstGeom prst="rect">
            <a:avLst/>
          </a:prstGeom>
          <a:noFill/>
          <a:ln/>
        </p:spPr>
        <p:txBody>
          <a:bodyPr wrap="square" lIns="0" tIns="0" rIns="0" bIns="0" rtlCol="0" anchor="ctr"/>
          <a:lstStyle/>
          <a:p>
            <a:pPr indent="0" marL="0">
              <a:buNone/>
            </a:pPr>
            <a:r>
              <a:rPr lang="en-US" sz="3200" b="1" dirty="0">
                <a:solidFill>
                  <a:srgbClr val="E40029"/>
                </a:solidFill>
                <a:latin typeface="Calibri" pitchFamily="34" charset="0"/>
                <a:ea typeface="Calibri" pitchFamily="34" charset="-122"/>
                <a:cs typeface="Calibri" pitchFamily="34" charset="-120"/>
              </a:rPr>
              <a:t>&lt;800ms</a:t>
            </a:r>
            <a:endParaRPr lang="en-US" sz="3200" dirty="0"/>
          </a:p>
        </p:txBody>
      </p:sp>
      <p:sp>
        <p:nvSpPr>
          <p:cNvPr id="14" name="Text 11"/>
          <p:cNvSpPr/>
          <p:nvPr/>
        </p:nvSpPr>
        <p:spPr>
          <a:xfrm>
            <a:off x="3596564" y="3749040"/>
            <a:ext cx="2133524" cy="292608"/>
          </a:xfrm>
          <a:prstGeom prst="rect">
            <a:avLst/>
          </a:prstGeom>
          <a:noFill/>
          <a:ln/>
        </p:spPr>
        <p:txBody>
          <a:bodyPr wrap="square" lIns="0" tIns="0" rIns="0" bIns="0" rtlCol="0" anchor="ctr"/>
          <a:lstStyle/>
          <a:p>
            <a:pPr indent="0" marL="0">
              <a:buNone/>
            </a:pPr>
            <a:r>
              <a:rPr lang="en-US" sz="1000" b="1" spc="200" kern="0" dirty="0">
                <a:solidFill>
                  <a:srgbClr val="1A1A1A"/>
                </a:solidFill>
                <a:latin typeface="Calibri" pitchFamily="34" charset="0"/>
                <a:ea typeface="Calibri" pitchFamily="34" charset="-122"/>
                <a:cs typeface="Calibri" pitchFamily="34" charset="-120"/>
              </a:rPr>
              <a:t>AVERAGE SCAN TIME</a:t>
            </a:r>
            <a:endParaRPr lang="en-US" sz="1000" dirty="0"/>
          </a:p>
        </p:txBody>
      </p:sp>
      <p:sp>
        <p:nvSpPr>
          <p:cNvPr id="15" name="Text 12"/>
          <p:cNvSpPr/>
          <p:nvPr/>
        </p:nvSpPr>
        <p:spPr>
          <a:xfrm>
            <a:off x="3596564" y="4050792"/>
            <a:ext cx="2133524" cy="502920"/>
          </a:xfrm>
          <a:prstGeom prst="rect">
            <a:avLst/>
          </a:prstGeom>
          <a:noFill/>
          <a:ln/>
        </p:spPr>
        <p:txBody>
          <a:bodyPr wrap="square" lIns="0" tIns="0" rIns="0" bIns="0" rtlCol="0" anchor="ctr"/>
          <a:lstStyle/>
          <a:p>
            <a:pPr indent="0" marL="0">
              <a:buNone/>
            </a:pPr>
            <a:r>
              <a:rPr lang="en-US" sz="1050" dirty="0">
                <a:solidFill>
                  <a:srgbClr val="4A4D57"/>
                </a:solidFill>
                <a:latin typeface="Calibri" pitchFamily="34" charset="0"/>
                <a:ea typeface="Calibri" pitchFamily="34" charset="-122"/>
                <a:cs typeface="Calibri" pitchFamily="34" charset="-120"/>
              </a:rPr>
              <a:t>Faster than a single language-model call. Front-loads the security cost.</a:t>
            </a:r>
            <a:endParaRPr lang="en-US" sz="1050" dirty="0"/>
          </a:p>
        </p:txBody>
      </p:sp>
      <p:sp>
        <p:nvSpPr>
          <p:cNvPr id="16" name="Shape 13"/>
          <p:cNvSpPr/>
          <p:nvPr/>
        </p:nvSpPr>
        <p:spPr>
          <a:xfrm>
            <a:off x="6233008" y="2788920"/>
            <a:ext cx="2590724" cy="1874520"/>
          </a:xfrm>
          <a:prstGeom prst="roundRect">
            <a:avLst>
              <a:gd name="adj" fmla="val 5854"/>
            </a:avLst>
          </a:prstGeom>
          <a:solidFill>
            <a:srgbClr val="FFFFFF"/>
          </a:solidFill>
          <a:ln w="7620">
            <a:solidFill>
              <a:srgbClr val="DFE2EA"/>
            </a:solidFill>
            <a:prstDash val="solid"/>
          </a:ln>
          <a:effectLst>
            <a:outerShdw sx="100000" sy="100000" kx="0" ky="0" algn="bl" rotWithShape="0" blurRad="177800" dist="38100" dir="8100000">
              <a:srgbClr val="000000">
                <a:alpha val="10000"/>
              </a:srgbClr>
            </a:outerShdw>
          </a:effectLst>
        </p:spPr>
      </p:sp>
      <p:sp>
        <p:nvSpPr>
          <p:cNvPr id="17" name="Text 14"/>
          <p:cNvSpPr/>
          <p:nvPr/>
        </p:nvSpPr>
        <p:spPr>
          <a:xfrm>
            <a:off x="6461608" y="3017520"/>
            <a:ext cx="2133524" cy="731520"/>
          </a:xfrm>
          <a:prstGeom prst="rect">
            <a:avLst/>
          </a:prstGeom>
          <a:noFill/>
          <a:ln/>
        </p:spPr>
        <p:txBody>
          <a:bodyPr wrap="square" lIns="0" tIns="0" rIns="0" bIns="0" rtlCol="0" anchor="ctr"/>
          <a:lstStyle/>
          <a:p>
            <a:pPr indent="0" marL="0">
              <a:buNone/>
            </a:pPr>
            <a:r>
              <a:rPr lang="en-US" sz="3200" b="1" dirty="0">
                <a:solidFill>
                  <a:srgbClr val="E40029"/>
                </a:solidFill>
                <a:latin typeface="Calibri" pitchFamily="34" charset="0"/>
                <a:ea typeface="Calibri" pitchFamily="34" charset="-122"/>
                <a:cs typeface="Calibri" pitchFamily="34" charset="-120"/>
              </a:rPr>
              <a:t>$0</a:t>
            </a:r>
            <a:endParaRPr lang="en-US" sz="3200" dirty="0"/>
          </a:p>
        </p:txBody>
      </p:sp>
      <p:sp>
        <p:nvSpPr>
          <p:cNvPr id="18" name="Text 15"/>
          <p:cNvSpPr/>
          <p:nvPr/>
        </p:nvSpPr>
        <p:spPr>
          <a:xfrm>
            <a:off x="6461608" y="3749040"/>
            <a:ext cx="2133524" cy="292608"/>
          </a:xfrm>
          <a:prstGeom prst="rect">
            <a:avLst/>
          </a:prstGeom>
          <a:noFill/>
          <a:ln/>
        </p:spPr>
        <p:txBody>
          <a:bodyPr wrap="square" lIns="0" tIns="0" rIns="0" bIns="0" rtlCol="0" anchor="ctr"/>
          <a:lstStyle/>
          <a:p>
            <a:pPr indent="0" marL="0">
              <a:buNone/>
            </a:pPr>
            <a:r>
              <a:rPr lang="en-US" sz="1000" b="1" spc="200" kern="0" dirty="0">
                <a:solidFill>
                  <a:srgbClr val="1A1A1A"/>
                </a:solidFill>
                <a:latin typeface="Calibri" pitchFamily="34" charset="0"/>
                <a:ea typeface="Calibri" pitchFamily="34" charset="-122"/>
                <a:cs typeface="Calibri" pitchFamily="34" charset="-120"/>
              </a:rPr>
              <a:t>PER SCAN OFFLINE</a:t>
            </a:r>
            <a:endParaRPr lang="en-US" sz="1000" dirty="0"/>
          </a:p>
        </p:txBody>
      </p:sp>
      <p:sp>
        <p:nvSpPr>
          <p:cNvPr id="19" name="Text 16"/>
          <p:cNvSpPr/>
          <p:nvPr/>
        </p:nvSpPr>
        <p:spPr>
          <a:xfrm>
            <a:off x="6461608" y="4050792"/>
            <a:ext cx="2133524" cy="502920"/>
          </a:xfrm>
          <a:prstGeom prst="rect">
            <a:avLst/>
          </a:prstGeom>
          <a:noFill/>
          <a:ln/>
        </p:spPr>
        <p:txBody>
          <a:bodyPr wrap="square" lIns="0" tIns="0" rIns="0" bIns="0" rtlCol="0" anchor="ctr"/>
          <a:lstStyle/>
          <a:p>
            <a:pPr indent="0" marL="0">
              <a:buNone/>
            </a:pPr>
            <a:r>
              <a:rPr lang="en-US" sz="1050" dirty="0">
                <a:solidFill>
                  <a:srgbClr val="4A4D57"/>
                </a:solidFill>
                <a:latin typeface="Calibri" pitchFamily="34" charset="0"/>
                <a:ea typeface="Calibri" pitchFamily="34" charset="-122"/>
                <a:cs typeface="Calibri" pitchFamily="34" charset="-120"/>
              </a:rPr>
              <a:t>Nine of ten detectors run with no external service. Air-gap-friendly.</a:t>
            </a:r>
            <a:endParaRPr lang="en-US" sz="1050" dirty="0"/>
          </a:p>
        </p:txBody>
      </p:sp>
      <p:sp>
        <p:nvSpPr>
          <p:cNvPr id="20" name="Shape 17"/>
          <p:cNvSpPr/>
          <p:nvPr/>
        </p:nvSpPr>
        <p:spPr>
          <a:xfrm>
            <a:off x="9098051" y="2788920"/>
            <a:ext cx="2590724" cy="1874520"/>
          </a:xfrm>
          <a:prstGeom prst="roundRect">
            <a:avLst>
              <a:gd name="adj" fmla="val 5854"/>
            </a:avLst>
          </a:prstGeom>
          <a:solidFill>
            <a:srgbClr val="FFFFFF"/>
          </a:solidFill>
          <a:ln w="7620">
            <a:solidFill>
              <a:srgbClr val="DFE2EA"/>
            </a:solidFill>
            <a:prstDash val="solid"/>
          </a:ln>
          <a:effectLst>
            <a:outerShdw sx="100000" sy="100000" kx="0" ky="0" algn="bl" rotWithShape="0" blurRad="177800" dist="38100" dir="8100000">
              <a:srgbClr val="000000">
                <a:alpha val="10000"/>
              </a:srgbClr>
            </a:outerShdw>
          </a:effectLst>
        </p:spPr>
      </p:sp>
      <p:sp>
        <p:nvSpPr>
          <p:cNvPr id="21" name="Text 18"/>
          <p:cNvSpPr/>
          <p:nvPr/>
        </p:nvSpPr>
        <p:spPr>
          <a:xfrm>
            <a:off x="9326651" y="3017520"/>
            <a:ext cx="2133524" cy="731520"/>
          </a:xfrm>
          <a:prstGeom prst="rect">
            <a:avLst/>
          </a:prstGeom>
          <a:noFill/>
          <a:ln/>
        </p:spPr>
        <p:txBody>
          <a:bodyPr wrap="square" lIns="0" tIns="0" rIns="0" bIns="0" rtlCol="0" anchor="ctr"/>
          <a:lstStyle/>
          <a:p>
            <a:pPr indent="0" marL="0">
              <a:buNone/>
            </a:pPr>
            <a:r>
              <a:rPr lang="en-US" sz="3200" b="1" dirty="0">
                <a:solidFill>
                  <a:srgbClr val="E40029"/>
                </a:solidFill>
                <a:latin typeface="Calibri" pitchFamily="34" charset="0"/>
                <a:ea typeface="Calibri" pitchFamily="34" charset="-122"/>
                <a:cs typeface="Calibri" pitchFamily="34" charset="-120"/>
              </a:rPr>
              <a:t>100%</a:t>
            </a:r>
            <a:endParaRPr lang="en-US" sz="3200" dirty="0"/>
          </a:p>
        </p:txBody>
      </p:sp>
      <p:sp>
        <p:nvSpPr>
          <p:cNvPr id="22" name="Text 19"/>
          <p:cNvSpPr/>
          <p:nvPr/>
        </p:nvSpPr>
        <p:spPr>
          <a:xfrm>
            <a:off x="9326651" y="3749040"/>
            <a:ext cx="2133524" cy="292608"/>
          </a:xfrm>
          <a:prstGeom prst="rect">
            <a:avLst/>
          </a:prstGeom>
          <a:noFill/>
          <a:ln/>
        </p:spPr>
        <p:txBody>
          <a:bodyPr wrap="square" lIns="0" tIns="0" rIns="0" bIns="0" rtlCol="0" anchor="ctr"/>
          <a:lstStyle/>
          <a:p>
            <a:pPr indent="0" marL="0">
              <a:buNone/>
            </a:pPr>
            <a:r>
              <a:rPr lang="en-US" sz="1000" b="1" spc="200" kern="0" dirty="0">
                <a:solidFill>
                  <a:srgbClr val="1A1A1A"/>
                </a:solidFill>
                <a:latin typeface="Calibri" pitchFamily="34" charset="0"/>
                <a:ea typeface="Calibri" pitchFamily="34" charset="-122"/>
                <a:cs typeface="Calibri" pitchFamily="34" charset="-120"/>
              </a:rPr>
              <a:t>AUDITED VERDICTS</a:t>
            </a:r>
            <a:endParaRPr lang="en-US" sz="1000" dirty="0"/>
          </a:p>
        </p:txBody>
      </p:sp>
      <p:sp>
        <p:nvSpPr>
          <p:cNvPr id="23" name="Text 20"/>
          <p:cNvSpPr/>
          <p:nvPr/>
        </p:nvSpPr>
        <p:spPr>
          <a:xfrm>
            <a:off x="9326651" y="4050792"/>
            <a:ext cx="2133524" cy="502920"/>
          </a:xfrm>
          <a:prstGeom prst="rect">
            <a:avLst/>
          </a:prstGeom>
          <a:noFill/>
          <a:ln/>
        </p:spPr>
        <p:txBody>
          <a:bodyPr wrap="square" lIns="0" tIns="0" rIns="0" bIns="0" rtlCol="0" anchor="ctr"/>
          <a:lstStyle/>
          <a:p>
            <a:pPr indent="0" marL="0">
              <a:buNone/>
            </a:pPr>
            <a:r>
              <a:rPr lang="en-US" sz="1050" dirty="0">
                <a:solidFill>
                  <a:srgbClr val="4A4D57"/>
                </a:solidFill>
                <a:latin typeface="Calibri" pitchFamily="34" charset="0"/>
                <a:ea typeface="Calibri" pitchFamily="34" charset="-122"/>
                <a:cs typeface="Calibri" pitchFamily="34" charset="-120"/>
              </a:rPr>
              <a:t>Every block carries an evidence record: detector, category, confidence, location.</a:t>
            </a:r>
            <a:endParaRPr lang="en-US" sz="1050" dirty="0"/>
          </a:p>
        </p:txBody>
      </p:sp>
      <p:sp>
        <p:nvSpPr>
          <p:cNvPr id="24" name="Shape 21"/>
          <p:cNvSpPr/>
          <p:nvPr/>
        </p:nvSpPr>
        <p:spPr>
          <a:xfrm>
            <a:off x="502920" y="4892040"/>
            <a:ext cx="11185855" cy="1463040"/>
          </a:xfrm>
          <a:prstGeom prst="roundRect">
            <a:avLst>
              <a:gd name="adj" fmla="val 7500"/>
            </a:avLst>
          </a:prstGeom>
          <a:solidFill>
            <a:srgbClr val="1A1A1A"/>
          </a:solidFill>
          <a:ln w="7620">
            <a:solidFill>
              <a:srgbClr val="1A1A1A"/>
            </a:solidFill>
            <a:prstDash val="solid"/>
          </a:ln>
        </p:spPr>
      </p:sp>
      <p:sp>
        <p:nvSpPr>
          <p:cNvPr id="25" name="Text 22"/>
          <p:cNvSpPr/>
          <p:nvPr/>
        </p:nvSpPr>
        <p:spPr>
          <a:xfrm>
            <a:off x="777240" y="4983480"/>
            <a:ext cx="10058400" cy="365760"/>
          </a:xfrm>
          <a:prstGeom prst="rect">
            <a:avLst/>
          </a:prstGeom>
          <a:noFill/>
          <a:ln/>
        </p:spPr>
        <p:txBody>
          <a:bodyPr wrap="square" lIns="0" tIns="0" rIns="0" bIns="0" rtlCol="0" anchor="ctr"/>
          <a:lstStyle/>
          <a:p>
            <a:pPr indent="0" marL="0">
              <a:buNone/>
            </a:pPr>
            <a:r>
              <a:rPr lang="en-US" sz="1300" b="1" spc="300" kern="0" dirty="0">
                <a:solidFill>
                  <a:srgbClr val="E40029"/>
                </a:solidFill>
                <a:latin typeface="Calibri" pitchFamily="34" charset="0"/>
                <a:ea typeface="Calibri" pitchFamily="34" charset="-122"/>
                <a:cs typeface="Calibri" pitchFamily="34" charset="-120"/>
              </a:rPr>
              <a:t>The cost of NOT having a layer like this</a:t>
            </a:r>
            <a:endParaRPr lang="en-US" sz="1300" dirty="0"/>
          </a:p>
        </p:txBody>
      </p:sp>
      <p:sp>
        <p:nvSpPr>
          <p:cNvPr id="26" name="Text 23"/>
          <p:cNvSpPr/>
          <p:nvPr/>
        </p:nvSpPr>
        <p:spPr>
          <a:xfrm>
            <a:off x="777240" y="5349240"/>
            <a:ext cx="10637215" cy="96012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A single successful injection against a customer-facing AI can leak credentials, corrupt downstream automation, pivot to your tools layer, or surface biased decisions to the people they affect. Detection from inside the language model is structurally blind to invisible text, encoded payloads, display-order tricks, look-alike URLs, and code smuggled through OCR. Trapdoor sits in front of the model — every uploaded file is scanned and sanitised before a single token reaches the prompt.</a:t>
            </a:r>
            <a:endParaRPr lang="en-US" sz="1250" dirty="0"/>
          </a:p>
        </p:txBody>
      </p:sp>
      <p:sp>
        <p:nvSpPr>
          <p:cNvPr id="27" name="Shape 24"/>
          <p:cNvSpPr/>
          <p:nvPr/>
        </p:nvSpPr>
        <p:spPr>
          <a:xfrm>
            <a:off x="502920" y="6446520"/>
            <a:ext cx="11185855" cy="0"/>
          </a:xfrm>
          <a:prstGeom prst="line">
            <a:avLst/>
          </a:prstGeom>
          <a:noFill/>
          <a:ln w="6350">
            <a:solidFill>
              <a:srgbClr val="DFE2EA"/>
            </a:solidFill>
            <a:prstDash val="solid"/>
          </a:ln>
        </p:spPr>
      </p:sp>
      <p:sp>
        <p:nvSpPr>
          <p:cNvPr id="28" name="Text 25"/>
          <p:cNvSpPr/>
          <p:nvPr/>
        </p:nvSpPr>
        <p:spPr>
          <a:xfrm>
            <a:off x="502920" y="6510528"/>
            <a:ext cx="7315200" cy="274320"/>
          </a:xfrm>
          <a:prstGeom prst="rect">
            <a:avLst/>
          </a:prstGeom>
          <a:noFill/>
          <a:ln/>
        </p:spPr>
        <p:txBody>
          <a:bodyPr wrap="square" lIns="0" tIns="0" rIns="0" bIns="0" rtlCol="0" anchor="ctr"/>
          <a:lstStyle/>
          <a:p>
            <a:pPr indent="0" marL="0">
              <a:buNone/>
            </a:pPr>
            <a:r>
              <a:rPr lang="en-US" sz="900" dirty="0">
                <a:solidFill>
                  <a:srgbClr val="7A7E8A"/>
                </a:solidFill>
                <a:latin typeface="Calibri" pitchFamily="34" charset="0"/>
                <a:ea typeface="Calibri" pitchFamily="34" charset="-122"/>
                <a:cs typeface="Calibri" pitchFamily="34" charset="-120"/>
              </a:rPr>
              <a:t>Trapdoor · Working architecture</a:t>
            </a:r>
            <a:endParaRPr lang="en-US" sz="900" dirty="0"/>
          </a:p>
        </p:txBody>
      </p:sp>
      <p:sp>
        <p:nvSpPr>
          <p:cNvPr id="29" name="Text 26"/>
          <p:cNvSpPr/>
          <p:nvPr/>
        </p:nvSpPr>
        <p:spPr>
          <a:xfrm>
            <a:off x="10637215" y="6510528"/>
            <a:ext cx="1051560" cy="274320"/>
          </a:xfrm>
          <a:prstGeom prst="rect">
            <a:avLst/>
          </a:prstGeom>
          <a:noFill/>
          <a:ln/>
        </p:spPr>
        <p:txBody>
          <a:bodyPr wrap="square" lIns="0" tIns="0" rIns="0" bIns="0" rtlCol="0" anchor="ctr"/>
          <a:lstStyle/>
          <a:p>
            <a:pPr algn="r" indent="0" marL="0">
              <a:buNone/>
            </a:pPr>
            <a:r>
              <a:rPr lang="en-US" sz="900" dirty="0">
                <a:solidFill>
                  <a:srgbClr val="7A7E8A"/>
                </a:solidFill>
                <a:latin typeface="Calibri" pitchFamily="34" charset="0"/>
                <a:ea typeface="Calibri" pitchFamily="34" charset="-122"/>
                <a:cs typeface="Calibri" pitchFamily="34" charset="-120"/>
              </a:rPr>
              <a:t>11 / 12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A1A"/>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E40029"/>
          </a:solidFill>
          <a:ln/>
        </p:spPr>
      </p:sp>
      <p:pic>
        <p:nvPicPr>
          <p:cNvPr id="3" name="Image 0" descr="assets/tech-mahindra-logo.png">    </p:cNvPr>
          <p:cNvPicPr>
            <a:picLocks noChangeAspect="1"/>
          </p:cNvPicPr>
          <p:nvPr/>
        </p:nvPicPr>
        <p:blipFill>
          <a:blip r:embed="rId1"/>
          <a:stretch>
            <a:fillRect/>
          </a:stretch>
        </p:blipFill>
        <p:spPr>
          <a:xfrm>
            <a:off x="9712386" y="548640"/>
            <a:ext cx="1839229" cy="502920"/>
          </a:xfrm>
          <a:prstGeom prst="rect">
            <a:avLst/>
          </a:prstGeom>
        </p:spPr>
      </p:pic>
      <p:sp>
        <p:nvSpPr>
          <p:cNvPr id="4" name="Text 1"/>
          <p:cNvSpPr/>
          <p:nvPr/>
        </p:nvSpPr>
        <p:spPr>
          <a:xfrm>
            <a:off x="731520" y="1645920"/>
            <a:ext cx="10972800" cy="914400"/>
          </a:xfrm>
          <a:prstGeom prst="rect">
            <a:avLst/>
          </a:prstGeom>
          <a:noFill/>
          <a:ln/>
        </p:spPr>
        <p:txBody>
          <a:bodyPr wrap="square" lIns="0" tIns="0" rIns="0" bIns="0" rtlCol="0" anchor="ctr"/>
          <a:lstStyle/>
          <a:p>
            <a:pPr indent="0" marL="0">
              <a:buNone/>
            </a:pPr>
            <a:r>
              <a:rPr lang="en-US" sz="7200" b="1" dirty="0">
                <a:solidFill>
                  <a:srgbClr val="0078D4"/>
                </a:solidFill>
                <a:latin typeface="Calibri" pitchFamily="34" charset="0"/>
                <a:ea typeface="Calibri" pitchFamily="34" charset="-122"/>
                <a:cs typeface="Calibri" pitchFamily="34" charset="-120"/>
              </a:rPr>
              <a:t>Extract.</a:t>
            </a:r>
            <a:endParaRPr lang="en-US" sz="7200" dirty="0"/>
          </a:p>
        </p:txBody>
      </p:sp>
      <p:sp>
        <p:nvSpPr>
          <p:cNvPr id="5" name="Text 2"/>
          <p:cNvSpPr/>
          <p:nvPr/>
        </p:nvSpPr>
        <p:spPr>
          <a:xfrm>
            <a:off x="731520" y="2606040"/>
            <a:ext cx="10972800" cy="914400"/>
          </a:xfrm>
          <a:prstGeom prst="rect">
            <a:avLst/>
          </a:prstGeom>
          <a:noFill/>
          <a:ln/>
        </p:spPr>
        <p:txBody>
          <a:bodyPr wrap="square" lIns="0" tIns="0" rIns="0" bIns="0" rtlCol="0" anchor="ctr"/>
          <a:lstStyle/>
          <a:p>
            <a:pPr indent="0" marL="0">
              <a:buNone/>
            </a:pPr>
            <a:r>
              <a:rPr lang="en-US" sz="7200" b="1" dirty="0">
                <a:solidFill>
                  <a:srgbClr val="6F42C1"/>
                </a:solidFill>
                <a:latin typeface="Calibri" pitchFamily="34" charset="0"/>
                <a:ea typeface="Calibri" pitchFamily="34" charset="-122"/>
                <a:cs typeface="Calibri" pitchFamily="34" charset="-120"/>
              </a:rPr>
              <a:t>Detect.</a:t>
            </a:r>
            <a:endParaRPr lang="en-US" sz="7200" dirty="0"/>
          </a:p>
        </p:txBody>
      </p:sp>
      <p:sp>
        <p:nvSpPr>
          <p:cNvPr id="6" name="Text 3"/>
          <p:cNvSpPr/>
          <p:nvPr/>
        </p:nvSpPr>
        <p:spPr>
          <a:xfrm>
            <a:off x="731520" y="3566160"/>
            <a:ext cx="10972800" cy="914400"/>
          </a:xfrm>
          <a:prstGeom prst="rect">
            <a:avLst/>
          </a:prstGeom>
          <a:noFill/>
          <a:ln/>
        </p:spPr>
        <p:txBody>
          <a:bodyPr wrap="square" lIns="0" tIns="0" rIns="0" bIns="0" rtlCol="0" anchor="ctr"/>
          <a:lstStyle/>
          <a:p>
            <a:pPr indent="0" marL="0">
              <a:buNone/>
            </a:pPr>
            <a:r>
              <a:rPr lang="en-US" sz="7200" b="1" dirty="0">
                <a:solidFill>
                  <a:srgbClr val="1F9C5B"/>
                </a:solidFill>
                <a:latin typeface="Calibri" pitchFamily="34" charset="0"/>
                <a:ea typeface="Calibri" pitchFamily="34" charset="-122"/>
                <a:cs typeface="Calibri" pitchFamily="34" charset="-120"/>
              </a:rPr>
              <a:t>Sanitize.</a:t>
            </a:r>
            <a:endParaRPr lang="en-US" sz="7200" dirty="0"/>
          </a:p>
        </p:txBody>
      </p:sp>
      <p:sp>
        <p:nvSpPr>
          <p:cNvPr id="7" name="Shape 4"/>
          <p:cNvSpPr/>
          <p:nvPr/>
        </p:nvSpPr>
        <p:spPr>
          <a:xfrm>
            <a:off x="731520" y="4754880"/>
            <a:ext cx="3657600" cy="0"/>
          </a:xfrm>
          <a:prstGeom prst="line">
            <a:avLst/>
          </a:prstGeom>
          <a:noFill/>
          <a:ln w="25400">
            <a:solidFill>
              <a:srgbClr val="E40029"/>
            </a:solidFill>
            <a:prstDash val="solid"/>
          </a:ln>
        </p:spPr>
      </p:sp>
      <p:sp>
        <p:nvSpPr>
          <p:cNvPr id="8" name="Text 5"/>
          <p:cNvSpPr/>
          <p:nvPr/>
        </p:nvSpPr>
        <p:spPr>
          <a:xfrm>
            <a:off x="731520" y="4892040"/>
            <a:ext cx="10972800" cy="502920"/>
          </a:xfrm>
          <a:prstGeom prst="rect">
            <a:avLst/>
          </a:prstGeom>
          <a:noFill/>
          <a:ln/>
        </p:spPr>
        <p:txBody>
          <a:bodyPr wrap="square" lIns="0" tIns="0" rIns="0" bIns="0" rtlCol="0" anchor="ctr"/>
          <a:lstStyle/>
          <a:p>
            <a:pPr indent="0" marL="0">
              <a:buNone/>
            </a:pPr>
            <a:r>
              <a:rPr lang="en-US" sz="2600" dirty="0">
                <a:solidFill>
                  <a:srgbClr val="FFFFFF"/>
                </a:solidFill>
                <a:latin typeface="Calibri" pitchFamily="34" charset="0"/>
                <a:ea typeface="Calibri" pitchFamily="34" charset="-122"/>
                <a:cs typeface="Calibri" pitchFamily="34" charset="-120"/>
              </a:rPr>
              <a:t>Three stages, one safe context.</a:t>
            </a:r>
            <a:endParaRPr lang="en-US" sz="2600" dirty="0"/>
          </a:p>
        </p:txBody>
      </p:sp>
      <p:sp>
        <p:nvSpPr>
          <p:cNvPr id="9" name="Text 6"/>
          <p:cNvSpPr/>
          <p:nvPr/>
        </p:nvSpPr>
        <p:spPr>
          <a:xfrm>
            <a:off x="731520" y="5440680"/>
            <a:ext cx="10972800" cy="457200"/>
          </a:xfrm>
          <a:prstGeom prst="rect">
            <a:avLst/>
          </a:prstGeom>
          <a:noFill/>
          <a:ln/>
        </p:spPr>
        <p:txBody>
          <a:bodyPr wrap="square" lIns="0" tIns="0" rIns="0" bIns="0" rtlCol="0" anchor="ctr"/>
          <a:lstStyle/>
          <a:p>
            <a:pPr indent="0" marL="0">
              <a:buNone/>
            </a:pPr>
            <a:r>
              <a:rPr lang="en-US" sz="1600" dirty="0">
                <a:solidFill>
                  <a:srgbClr val="C5C8D3"/>
                </a:solidFill>
                <a:latin typeface="Calibri" pitchFamily="34" charset="0"/>
                <a:ea typeface="Calibri" pitchFamily="34" charset="-122"/>
                <a:cs typeface="Calibri" pitchFamily="34" charset="-120"/>
              </a:rPr>
              <a:t>Every file checked before the AI ever sees it. Every block backed by evidence. Every verdict auditable.</a:t>
            </a:r>
            <a:endParaRPr lang="en-US" sz="1600" dirty="0"/>
          </a:p>
        </p:txBody>
      </p:sp>
      <p:sp>
        <p:nvSpPr>
          <p:cNvPr id="10" name="Text 7"/>
          <p:cNvSpPr/>
          <p:nvPr/>
        </p:nvSpPr>
        <p:spPr>
          <a:xfrm>
            <a:off x="502920" y="6446520"/>
            <a:ext cx="11185855" cy="274320"/>
          </a:xfrm>
          <a:prstGeom prst="rect">
            <a:avLst/>
          </a:prstGeom>
          <a:noFill/>
          <a:ln/>
        </p:spPr>
        <p:txBody>
          <a:bodyPr wrap="square" lIns="0" tIns="0" rIns="0" bIns="0" rtlCol="0" anchor="ctr"/>
          <a:lstStyle/>
          <a:p>
            <a:pPr indent="0" marL="0">
              <a:buNone/>
            </a:pPr>
            <a:r>
              <a:rPr lang="en-US" sz="1100" dirty="0">
                <a:solidFill>
                  <a:srgbClr val="7A7E8A"/>
                </a:solidFill>
                <a:latin typeface="Calibri" pitchFamily="34" charset="0"/>
                <a:ea typeface="Calibri" pitchFamily="34" charset="-122"/>
                <a:cs typeface="Calibri" pitchFamily="34" charset="-120"/>
              </a:rPr>
              <a:t>Trapdoor — Multimodal Prompt-Injection Defender</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Tech Mahindra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Trapdoor — How it Works</dc:title>
  <dc:subject>Working architecture, uses, business impact</dc:subject>
  <dc:creator>Trapdoor Team</dc:creator>
  <cp:lastModifiedBy>Trapdoor Team</cp:lastModifiedBy>
  <cp:revision>1</cp:revision>
  <dcterms:created xsi:type="dcterms:W3CDTF">2026-05-18T08:28:44Z</dcterms:created>
  <dcterms:modified xsi:type="dcterms:W3CDTF">2026-05-18T08:28:44Z</dcterms:modified>
</cp:coreProperties>
</file>